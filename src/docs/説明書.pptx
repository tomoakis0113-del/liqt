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68" r:id="rId3"/>
    <p:sldId id="270" r:id="rId4"/>
    <p:sldId id="271" r:id="rId5"/>
    <p:sldId id="272" r:id="rId6"/>
    <p:sldId id="274" r:id="rId7"/>
    <p:sldId id="258" r:id="rId8"/>
    <p:sldId id="267" r:id="rId9"/>
    <p:sldId id="259" r:id="rId10"/>
    <p:sldId id="260" r:id="rId11"/>
    <p:sldId id="261" r:id="rId12"/>
    <p:sldId id="262" r:id="rId13"/>
    <p:sldId id="264" r:id="rId14"/>
    <p:sldId id="265" r:id="rId15"/>
    <p:sldId id="266" r:id="rId16"/>
    <p:sldId id="275" r:id="rId17"/>
    <p:sldId id="279" r:id="rId18"/>
    <p:sldId id="280" r:id="rId19"/>
    <p:sldId id="282" r:id="rId20"/>
    <p:sldId id="284" r:id="rId21"/>
    <p:sldId id="291" r:id="rId22"/>
    <p:sldId id="286" r:id="rId23"/>
    <p:sldId id="287" r:id="rId24"/>
    <p:sldId id="289" r:id="rId25"/>
    <p:sldId id="288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EE7D8ABA-F873-4552-9A14-0F0A6CD42631}">
          <p14:sldIdLst>
            <p14:sldId id="256"/>
          </p14:sldIdLst>
        </p14:section>
        <p14:section name="フロントエンドとバックエンド" id="{F8C06A49-D2BE-486B-A139-F8DDC5AE9DB1}">
          <p14:sldIdLst>
            <p14:sldId id="268"/>
            <p14:sldId id="270"/>
            <p14:sldId id="271"/>
            <p14:sldId id="272"/>
            <p14:sldId id="274"/>
          </p14:sldIdLst>
        </p14:section>
        <p14:section name="今回の開発手法" id="{EEF17928-D790-480B-A9B5-4EBB7B05AE3E}">
          <p14:sldIdLst>
            <p14:sldId id="258"/>
            <p14:sldId id="267"/>
            <p14:sldId id="259"/>
          </p14:sldIdLst>
        </p14:section>
        <p14:section name="復習" id="{7CAD31EB-2BCD-4B39-B059-E43BB5BD3DD1}">
          <p14:sldIdLst>
            <p14:sldId id="260"/>
            <p14:sldId id="261"/>
            <p14:sldId id="262"/>
            <p14:sldId id="264"/>
            <p14:sldId id="265"/>
            <p14:sldId id="266"/>
            <p14:sldId id="275"/>
            <p14:sldId id="279"/>
            <p14:sldId id="280"/>
            <p14:sldId id="282"/>
          </p14:sldIdLst>
        </p14:section>
        <p14:section name="使用ライブラリについて" id="{A6A6358E-A286-4E20-B54A-C38A349D5731}">
          <p14:sldIdLst>
            <p14:sldId id="284"/>
            <p14:sldId id="291"/>
            <p14:sldId id="286"/>
            <p14:sldId id="287"/>
            <p14:sldId id="289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2A7A4-34D0-4657-85E2-AB12CD406E71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5216C-4949-486A-BBA0-EFEEEC982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107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5216C-4949-486A-BBA0-EFEEEC9822FE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4676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5216C-4949-486A-BBA0-EFEEEC9822FE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820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AA39-6E85-0257-CA24-225354D7C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3115224-FBD7-C8ED-3620-1CC15DEF6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8FE7E05-DED9-9AD9-6286-A0D37CEDE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FF1769-7E85-5C89-B141-C14945252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5216C-4949-486A-BBA0-EFEEEC9822FE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713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5216C-4949-486A-BBA0-EFEEEC9822FE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48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alphaModFix amt="9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000"/>
                    </a14:imgEffect>
                    <a14:imgEffect>
                      <a14:saturation sat="50000"/>
                    </a14:imgEffect>
                    <a14:imgEffect>
                      <a14:brightnessContrast bright="-3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>
            <a:extLst>
              <a:ext uri="{FF2B5EF4-FFF2-40B4-BE49-F238E27FC236}">
                <a16:creationId xmlns:a16="http://schemas.microsoft.com/office/drawing/2014/main" id="{2601FA2F-D437-7018-4356-0D43B2D0352B}"/>
              </a:ext>
            </a:extLst>
          </p:cNvPr>
          <p:cNvSpPr/>
          <p:nvPr userDrawn="1"/>
        </p:nvSpPr>
        <p:spPr>
          <a:xfrm flipH="1">
            <a:off x="7677150" y="0"/>
            <a:ext cx="4514850" cy="6858000"/>
          </a:xfrm>
          <a:prstGeom prst="rtTriangl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19852019-E32F-8D3C-B0CF-FD3862D11A94}"/>
              </a:ext>
            </a:extLst>
          </p:cNvPr>
          <p:cNvSpPr/>
          <p:nvPr userDrawn="1"/>
        </p:nvSpPr>
        <p:spPr>
          <a:xfrm flipV="1">
            <a:off x="0" y="0"/>
            <a:ext cx="12192000" cy="6858000"/>
          </a:xfrm>
          <a:prstGeom prst="rtTriangle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CCF4CBD-C540-C269-85BD-D60A83C01DDC}"/>
              </a:ext>
            </a:extLst>
          </p:cNvPr>
          <p:cNvSpPr/>
          <p:nvPr/>
        </p:nvSpPr>
        <p:spPr>
          <a:xfrm>
            <a:off x="1381760" y="1351280"/>
            <a:ext cx="9408160" cy="3623946"/>
          </a:xfrm>
          <a:prstGeom prst="rect">
            <a:avLst/>
          </a:prstGeom>
          <a:solidFill>
            <a:schemeClr val="tx1">
              <a:alpha val="29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EED751-187D-9011-CCEB-6D911FA5B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8763"/>
            <a:ext cx="9144000" cy="2387600"/>
          </a:xfrm>
          <a:ln w="28575">
            <a:solidFill>
              <a:schemeClr val="bg1"/>
            </a:solidFill>
            <a:prstDash val="dash"/>
          </a:ln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C3E33B-65EE-33C1-6785-B491CF54B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8438"/>
            <a:ext cx="9144000" cy="8016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D003CD4C-4C4F-1022-6EAB-2D91AEDF5828}"/>
              </a:ext>
            </a:extLst>
          </p:cNvPr>
          <p:cNvCxnSpPr>
            <a:cxnSpLocks/>
          </p:cNvCxnSpPr>
          <p:nvPr/>
        </p:nvCxnSpPr>
        <p:spPr>
          <a:xfrm rot="5400000">
            <a:off x="759460" y="1572261"/>
            <a:ext cx="1879600" cy="1021080"/>
          </a:xfrm>
          <a:prstGeom prst="bentConnector3">
            <a:avLst>
              <a:gd name="adj1" fmla="val -27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48D3F1F7-1A8A-43F8-BB17-43410C5DFA5E}"/>
              </a:ext>
            </a:extLst>
          </p:cNvPr>
          <p:cNvCxnSpPr>
            <a:cxnSpLocks/>
          </p:cNvCxnSpPr>
          <p:nvPr/>
        </p:nvCxnSpPr>
        <p:spPr>
          <a:xfrm rot="16200000">
            <a:off x="9497060" y="3702369"/>
            <a:ext cx="1879600" cy="1021080"/>
          </a:xfrm>
          <a:prstGeom prst="bentConnector3">
            <a:avLst>
              <a:gd name="adj1" fmla="val -27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39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21232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2621B9F-E283-D2B8-C3AB-7118FF739F12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</p:grpSpPr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90F7D239-8067-057E-0B4E-12192C78C6D2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0F2DEFBE-3111-8C95-9C5C-8B7C0839E42F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19" y="78105"/>
            <a:ext cx="925823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5100003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47675" indent="271463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F6DA2466-D83B-6D07-9FC4-8D2B03D5C369}"/>
              </a:ext>
            </a:extLst>
          </p:cNvPr>
          <p:cNvSpPr txBox="1">
            <a:spLocks/>
          </p:cNvSpPr>
          <p:nvPr userDrawn="1"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025F4A-6E5D-4503-B127-3F67FBD230D0}" type="slidenum">
              <a:rPr lang="ja-JP" altLang="en-US" smtClean="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92783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83787"/>
            <a:ext cx="5725160" cy="5100003"/>
          </a:xfrm>
        </p:spPr>
        <p:txBody>
          <a:bodyPr/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2D03233-F423-8726-7C5D-BB8B594C3FCD}"/>
              </a:ext>
            </a:extLst>
          </p:cNvPr>
          <p:cNvGrpSpPr/>
          <p:nvPr userDrawn="1"/>
        </p:nvGrpSpPr>
        <p:grpSpPr>
          <a:xfrm>
            <a:off x="0" y="-1588"/>
            <a:ext cx="1566041" cy="989559"/>
            <a:chOff x="0" y="0"/>
            <a:chExt cx="1538224" cy="914400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A4C257E2-3A65-41B5-DD81-43D98F05A858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59EC8548-C1CA-D465-B6BD-C0B57D7A9AB4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66E8484-A71F-FDF0-2DA3-FB6ABFA2C21F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1CA4E5-7A05-4BE9-BEE0-2A34E4EF6809}" type="slidenum">
              <a:rPr lang="ja-JP" altLang="en-US" smtClean="0"/>
              <a:t>‹#›</a:t>
            </a:fld>
            <a:endParaRPr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5977545-16E9-6B9D-D8F4-911556503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77280" y="1083787"/>
            <a:ext cx="5725160" cy="5100003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65082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933575"/>
            <a:ext cx="5725160" cy="4250215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CD20676-9411-5E54-7E21-AEF6E927B1BF}"/>
              </a:ext>
            </a:extLst>
          </p:cNvPr>
          <p:cNvGrpSpPr/>
          <p:nvPr userDrawn="1"/>
        </p:nvGrpSpPr>
        <p:grpSpPr>
          <a:xfrm>
            <a:off x="0" y="-1588"/>
            <a:ext cx="1566041" cy="989559"/>
            <a:chOff x="0" y="0"/>
            <a:chExt cx="1538224" cy="914400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B9230854-2FA4-0C09-27D3-5B8E80C263CF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086FF8F-1944-4E48-EF43-03A9FB761266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66E8484-A71F-FDF0-2DA3-FB6ABFA2C21F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5749A5-AA34-47CE-AF23-C64A4C32C722}" type="slidenum">
              <a:rPr lang="ja-JP" altLang="en-US" smtClean="0"/>
              <a:t>‹#›</a:t>
            </a:fld>
            <a:endParaRPr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5977545-16E9-6B9D-D8F4-911556503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77280" y="1933575"/>
            <a:ext cx="5725160" cy="4250215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EB3BB7D9-7A9B-2769-7EBF-EAD145D832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9560" y="1168720"/>
            <a:ext cx="5725160" cy="592295"/>
          </a:xfrm>
        </p:spPr>
        <p:txBody>
          <a:bodyPr anchor="b"/>
          <a:lstStyle>
            <a:lvl1pPr marL="0" indent="0">
              <a:buNone/>
              <a:defRPr sz="2400" b="1"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テキスト プレースホルダー 4">
            <a:extLst>
              <a:ext uri="{FF2B5EF4-FFF2-40B4-BE49-F238E27FC236}">
                <a16:creationId xmlns:a16="http://schemas.microsoft.com/office/drawing/2014/main" id="{EDBC27C4-F073-38A5-F348-654C023A4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7281" y="1168720"/>
            <a:ext cx="5725159" cy="592295"/>
          </a:xfrm>
        </p:spPr>
        <p:txBody>
          <a:bodyPr anchor="b"/>
          <a:lstStyle>
            <a:lvl1pPr marL="0" indent="0">
              <a:buNone/>
              <a:defRPr sz="2400" b="1"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8073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0DD2C0-904F-AC59-A1AE-EBEA7F4D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1737F8-C836-EBFE-50A1-2BC11311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90BE78-1470-F96E-3433-F2D384A4BD4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0E3F967B-BA5D-BD3F-78E3-E173EA88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085EC09-E283-31B6-EB30-D57D87427EA2}"/>
              </a:ext>
            </a:extLst>
          </p:cNvPr>
          <p:cNvGrpSpPr/>
          <p:nvPr userDrawn="1"/>
        </p:nvGrpSpPr>
        <p:grpSpPr>
          <a:xfrm>
            <a:off x="0" y="-1588"/>
            <a:ext cx="1566041" cy="989559"/>
            <a:chOff x="0" y="0"/>
            <a:chExt cx="1538224" cy="914400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9D27D75A-2236-4FEE-2BAB-85DF92C55625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A69990E-DDE4-9A6C-9800-FD2635DD91C0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スライド番号プレースホルダー 5">
            <a:extLst>
              <a:ext uri="{FF2B5EF4-FFF2-40B4-BE49-F238E27FC236}">
                <a16:creationId xmlns:a16="http://schemas.microsoft.com/office/drawing/2014/main" id="{10B02B1A-2A55-2738-5036-E2CC216DFBE7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99EE94-344E-43CE-BF19-C3DB806FA076}" type="slidenum">
              <a:rPr lang="ja-JP" altLang="en-US" smtClean="0"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3804151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テキストとコンテンツ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ADC41C0-E560-2E86-56CB-00DB17AE79D4}"/>
              </a:ext>
            </a:extLst>
          </p:cNvPr>
          <p:cNvGrpSpPr/>
          <p:nvPr/>
        </p:nvGrpSpPr>
        <p:grpSpPr>
          <a:xfrm>
            <a:off x="5474824" y="0"/>
            <a:ext cx="6717176" cy="6858000"/>
            <a:chOff x="5199109" y="0"/>
            <a:chExt cx="6992891" cy="6858000"/>
          </a:xfrm>
        </p:grpSpPr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2EA1BB47-AE4E-5455-FB0F-8022C8E311C9}"/>
                </a:ext>
              </a:extLst>
            </p:cNvPr>
            <p:cNvSpPr/>
            <p:nvPr/>
          </p:nvSpPr>
          <p:spPr>
            <a:xfrm>
              <a:off x="5199109" y="0"/>
              <a:ext cx="6992890" cy="6858000"/>
            </a:xfrm>
            <a:prstGeom prst="triangle">
              <a:avLst>
                <a:gd name="adj" fmla="val 22257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729C0AA-76E8-E1E8-58B7-DF18195DB606}"/>
                </a:ext>
              </a:extLst>
            </p:cNvPr>
            <p:cNvSpPr/>
            <p:nvPr/>
          </p:nvSpPr>
          <p:spPr>
            <a:xfrm>
              <a:off x="6753533" y="0"/>
              <a:ext cx="543846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pic>
        <p:nvPicPr>
          <p:cNvPr id="13" name="図 1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E0558B1-80C5-5231-39D8-2945847D20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25"/>
            <a:ext cx="8428580" cy="1355979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792B282-AA92-7B8C-0078-A0B1DF19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0861"/>
            <a:ext cx="5840392" cy="132543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E1712E-F28A-7CC7-F9E3-A704DFE4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9BDC0D-2604-DBCB-627D-A1AA2845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9D46F1-5992-3B6B-2693-D82A97CE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16B3-504C-464F-B4C0-DB4C909FDC4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70BF728D-C950-8614-C0A0-EB9C390004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141538"/>
            <a:ext cx="5840391" cy="394095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B1E17FCC-FAD5-78F0-76F3-BD4CEA9E20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6218" y="520861"/>
            <a:ext cx="4527581" cy="5561635"/>
          </a:xfrm>
        </p:spPr>
        <p:txBody>
          <a:bodyPr/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8280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切替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ADC41C0-E560-2E86-56CB-00DB17AE79D4}"/>
              </a:ext>
            </a:extLst>
          </p:cNvPr>
          <p:cNvGrpSpPr/>
          <p:nvPr/>
        </p:nvGrpSpPr>
        <p:grpSpPr>
          <a:xfrm>
            <a:off x="5474824" y="0"/>
            <a:ext cx="6717176" cy="6858000"/>
            <a:chOff x="5199109" y="0"/>
            <a:chExt cx="6992891" cy="6858000"/>
          </a:xfrm>
        </p:grpSpPr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2EA1BB47-AE4E-5455-FB0F-8022C8E311C9}"/>
                </a:ext>
              </a:extLst>
            </p:cNvPr>
            <p:cNvSpPr/>
            <p:nvPr/>
          </p:nvSpPr>
          <p:spPr>
            <a:xfrm>
              <a:off x="5199109" y="0"/>
              <a:ext cx="6992890" cy="6858000"/>
            </a:xfrm>
            <a:prstGeom prst="triangle">
              <a:avLst>
                <a:gd name="adj" fmla="val 22257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729C0AA-76E8-E1E8-58B7-DF18195DB606}"/>
                </a:ext>
              </a:extLst>
            </p:cNvPr>
            <p:cNvSpPr/>
            <p:nvPr/>
          </p:nvSpPr>
          <p:spPr>
            <a:xfrm>
              <a:off x="6753533" y="0"/>
              <a:ext cx="543846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pic>
        <p:nvPicPr>
          <p:cNvPr id="13" name="図 1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E0558B1-80C5-5231-39D8-2945847D20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25"/>
            <a:ext cx="8428580" cy="1355979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792B282-AA92-7B8C-0078-A0B1DF19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6160"/>
            <a:ext cx="10515600" cy="2560320"/>
          </a:xfrm>
        </p:spPr>
        <p:txBody>
          <a:bodyPr>
            <a:noAutofit/>
          </a:bodyPr>
          <a:lstStyle>
            <a:lvl1pPr algn="ctr">
              <a:defRPr sz="7200"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E1712E-F28A-7CC7-F9E3-A704DFE4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9BDC0D-2604-DBCB-627D-A1AA2845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9D46F1-5992-3B6B-2693-D82A97CE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16B3-504C-464F-B4C0-DB4C909FDC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22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8EF71D1-17E9-9225-C0A0-83D05F52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F861F2-D565-E8D7-04B9-36E81014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0F8BAE-0C2D-2CF2-2A9A-10D50854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16B3-504C-464F-B4C0-DB4C909FDC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4079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無地レイアウト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1D9FF2-6360-5852-F24D-0A32AB1E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6CC3E3-1B8C-3FF1-A80A-F5BD7123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C701911-512C-C3D5-DA07-4A28F1EC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116B3-504C-464F-B4C0-DB4C909FDC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9213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ADB0D1D-6DCB-5096-DDB1-B00F4F93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8A1A73-F16D-9346-7DE9-030CBC5F3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F4492-6C13-E3CA-766C-1F3FBF40F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2B7DE-61F6-4B5C-8DBB-C713C2CBF889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4241AE-35BE-C3D2-DC84-11481A64C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157B60-986C-438D-A1FE-5B5F64D4A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116B3-504C-464F-B4C0-DB4C909FDC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95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0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630238" algn="l"/>
        </a:tabLst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083880-9FCC-F804-D954-9094A438E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開発説明書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60E49AF-4CF8-7D9C-5719-5BA65C5C32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 err="1"/>
              <a:t>LiQt</a:t>
            </a:r>
            <a:r>
              <a:rPr kumimoji="1" lang="en-US" altLang="ja-JP" dirty="0"/>
              <a:t> Project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547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6D49F5-8C49-082B-3396-F019E85E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フロントエンド</a:t>
            </a:r>
            <a:br>
              <a:rPr lang="en-US" altLang="ja-JP" dirty="0"/>
            </a:br>
            <a:r>
              <a:rPr lang="ja-JP" altLang="en-US" dirty="0"/>
              <a:t>バックエンド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4744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669AFF-6938-9BAA-A0B7-83CF10B4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フロントエンド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ECD007-9CD2-DC27-35AE-6675EE49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1466543"/>
          </a:xfrm>
        </p:spPr>
        <p:txBody>
          <a:bodyPr/>
          <a:lstStyle/>
          <a:p>
            <a:r>
              <a:rPr kumimoji="1" lang="ja-JP" altLang="en-US" dirty="0"/>
              <a:t>フロントエンドとは</a:t>
            </a:r>
          </a:p>
          <a:p>
            <a:pPr marL="0" indent="0" algn="ctr">
              <a:buNone/>
            </a:pPr>
            <a:r>
              <a:rPr kumimoji="1" lang="ja-JP" altLang="en-US" sz="3200" dirty="0"/>
              <a:t>ブラウザ側</a:t>
            </a:r>
            <a:r>
              <a:rPr kumimoji="1" lang="en-US" altLang="ja-JP" sz="3200" dirty="0"/>
              <a:t>(</a:t>
            </a:r>
            <a:r>
              <a:rPr kumimoji="1" lang="ja-JP" altLang="en-US" sz="3200" dirty="0"/>
              <a:t>表示部分</a:t>
            </a:r>
            <a:r>
              <a:rPr kumimoji="1" lang="en-US" altLang="ja-JP" sz="3200" dirty="0"/>
              <a:t>)</a:t>
            </a:r>
            <a:r>
              <a:rPr kumimoji="1" lang="ja-JP" altLang="en-US" sz="3200" dirty="0"/>
              <a:t>で動くプログラムのこと</a:t>
            </a:r>
            <a:endParaRPr kumimoji="1" lang="en-US" altLang="ja-JP" sz="3200" dirty="0"/>
          </a:p>
          <a:p>
            <a:pPr marL="0" indent="0">
              <a:buNone/>
            </a:pPr>
            <a:endParaRPr kumimoji="1" lang="ja-JP" altLang="en-US" sz="3200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4AEAD7F-3739-10A3-E77A-8548CA3475F5}"/>
              </a:ext>
            </a:extLst>
          </p:cNvPr>
          <p:cNvGrpSpPr/>
          <p:nvPr/>
        </p:nvGrpSpPr>
        <p:grpSpPr>
          <a:xfrm>
            <a:off x="533399" y="2543508"/>
            <a:ext cx="3008587" cy="2059475"/>
            <a:chOff x="838199" y="3212087"/>
            <a:chExt cx="3008587" cy="2059475"/>
          </a:xfrm>
          <a:solidFill>
            <a:schemeClr val="bg1"/>
          </a:solidFill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DB9A1A6F-2515-9A33-7C49-9EED7C04AB5E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847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en-US" altLang="ja-JP" sz="3200" dirty="0"/>
                <a:t>HTML</a:t>
              </a:r>
              <a:endParaRPr kumimoji="1" lang="ja-JP" altLang="en-US" sz="3200" dirty="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F75A55F-1BD9-69FB-AA6E-D33BBB93CCA9}"/>
                </a:ext>
              </a:extLst>
            </p:cNvPr>
            <p:cNvSpPr txBox="1"/>
            <p:nvPr/>
          </p:nvSpPr>
          <p:spPr>
            <a:xfrm>
              <a:off x="838200" y="3794234"/>
              <a:ext cx="3008586" cy="147732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&lt;html&gt;</a:t>
              </a:r>
            </a:p>
            <a:p>
              <a:r>
                <a:rPr lang="en-US" altLang="ja-JP" dirty="0"/>
                <a:t>  &lt;body&gt;</a:t>
              </a:r>
            </a:p>
            <a:p>
              <a:r>
                <a:rPr lang="en-US" altLang="ja-JP" dirty="0"/>
                <a:t>    &lt;h1&gt;HELLO!!&lt;/h1&gt;</a:t>
              </a:r>
            </a:p>
            <a:p>
              <a:r>
                <a:rPr lang="en-US" altLang="ja-JP" dirty="0"/>
                <a:t>  &lt;/body&gt;</a:t>
              </a:r>
            </a:p>
            <a:p>
              <a:r>
                <a:rPr kumimoji="1" lang="en-US" altLang="ja-JP" dirty="0"/>
                <a:t>&lt;/html&gt;</a:t>
              </a:r>
              <a:endParaRPr kumimoji="1" lang="ja-JP" altLang="en-US" dirty="0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BDF827B-9718-F873-6CAB-35DC6D12E26B}"/>
              </a:ext>
            </a:extLst>
          </p:cNvPr>
          <p:cNvGrpSpPr/>
          <p:nvPr/>
        </p:nvGrpSpPr>
        <p:grpSpPr>
          <a:xfrm>
            <a:off x="4069472" y="2543507"/>
            <a:ext cx="3008587" cy="2059475"/>
            <a:chOff x="838199" y="3212087"/>
            <a:chExt cx="3008587" cy="1782476"/>
          </a:xfrm>
          <a:solidFill>
            <a:schemeClr val="bg1"/>
          </a:solidFill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20B7CB0-A335-0BE3-4C19-6C16C005EDF9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847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en-US" altLang="ja-JP" sz="3200" dirty="0"/>
                <a:t>CSS</a:t>
              </a:r>
              <a:endParaRPr kumimoji="1" lang="ja-JP" altLang="en-US" sz="32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A0F4E2EE-DEB7-4CE1-1C9C-251CD05C7C36}"/>
                </a:ext>
              </a:extLst>
            </p:cNvPr>
            <p:cNvSpPr txBox="1"/>
            <p:nvPr/>
          </p:nvSpPr>
          <p:spPr>
            <a:xfrm>
              <a:off x="838200" y="3794234"/>
              <a:ext cx="3008586" cy="120032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dirty="0"/>
                <a:t>body{</a:t>
              </a:r>
            </a:p>
            <a:p>
              <a:r>
                <a:rPr lang="en-US" altLang="ja-JP" dirty="0"/>
                <a:t>  </a:t>
              </a:r>
              <a:r>
                <a:rPr lang="en-US" altLang="ja-JP" dirty="0" err="1"/>
                <a:t>background-color:red</a:t>
              </a:r>
              <a:r>
                <a:rPr lang="en-US" altLang="ja-JP" dirty="0"/>
                <a:t>;</a:t>
              </a:r>
            </a:p>
            <a:p>
              <a:r>
                <a:rPr lang="en-US" altLang="ja-JP" dirty="0"/>
                <a:t>  </a:t>
              </a:r>
              <a:r>
                <a:rPr lang="en-US" altLang="ja-JP" dirty="0" err="1"/>
                <a:t>color:white</a:t>
              </a:r>
              <a:r>
                <a:rPr lang="en-US" altLang="ja-JP" dirty="0"/>
                <a:t>;</a:t>
              </a:r>
            </a:p>
            <a:p>
              <a:r>
                <a:rPr lang="en-US" altLang="ja-JP" dirty="0"/>
                <a:t>}</a:t>
              </a:r>
              <a:endParaRPr kumimoji="1" lang="ja-JP" altLang="en-US" dirty="0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13D5FA4-056D-09AE-3EC4-E37C148BC13A}"/>
              </a:ext>
            </a:extLst>
          </p:cNvPr>
          <p:cNvGrpSpPr/>
          <p:nvPr/>
        </p:nvGrpSpPr>
        <p:grpSpPr>
          <a:xfrm>
            <a:off x="7605545" y="2543503"/>
            <a:ext cx="4064881" cy="2059479"/>
            <a:chOff x="838199" y="3212087"/>
            <a:chExt cx="3008586" cy="1542738"/>
          </a:xfrm>
          <a:solidFill>
            <a:schemeClr val="bg1"/>
          </a:solidFill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5311A93-5B1B-78F5-D064-CF47FE1E16F9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0612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altLang="ja-JP" sz="3200" dirty="0"/>
                <a:t>JavaScript</a:t>
              </a:r>
              <a:endParaRPr kumimoji="1" lang="ja-JP" altLang="en-US" sz="3200" dirty="0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E818E90-AC06-7C7B-5885-3CC025A05095}"/>
                </a:ext>
              </a:extLst>
            </p:cNvPr>
            <p:cNvSpPr txBox="1"/>
            <p:nvPr/>
          </p:nvSpPr>
          <p:spPr>
            <a:xfrm>
              <a:off x="838199" y="3715939"/>
              <a:ext cx="3008586" cy="10388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dirty="0"/>
                <a:t>const h1 =</a:t>
              </a:r>
              <a:r>
                <a:rPr lang="en-US" altLang="ja-JP" dirty="0" err="1"/>
                <a:t>document.getElementByTag</a:t>
              </a:r>
              <a:r>
                <a:rPr lang="en-US" altLang="ja-JP" dirty="0"/>
                <a:t>(‘h1’)[0];</a:t>
              </a:r>
            </a:p>
            <a:p>
              <a:r>
                <a:rPr lang="en-US" altLang="ja-JP" dirty="0"/>
                <a:t>h1.style.color=“black”</a:t>
              </a:r>
              <a:endParaRPr lang="ja-JP" altLang="en-US" dirty="0"/>
            </a:p>
          </p:txBody>
        </p:sp>
      </p:grpSp>
      <p:sp>
        <p:nvSpPr>
          <p:cNvPr id="16" name="フローチャート: 書類 15">
            <a:extLst>
              <a:ext uri="{FF2B5EF4-FFF2-40B4-BE49-F238E27FC236}">
                <a16:creationId xmlns:a16="http://schemas.microsoft.com/office/drawing/2014/main" id="{949CCA77-906D-D9E2-764B-BCAD3568913B}"/>
              </a:ext>
            </a:extLst>
          </p:cNvPr>
          <p:cNvSpPr/>
          <p:nvPr/>
        </p:nvSpPr>
        <p:spPr>
          <a:xfrm>
            <a:off x="838200" y="5305311"/>
            <a:ext cx="10515600" cy="1076439"/>
          </a:xfrm>
          <a:prstGeom prst="flowChartDocumen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データの表示部分だけ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62013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37A2B-6E31-3630-09C4-831AFAB1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バックエンド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7037D9-A2DE-E488-487C-8234AF98C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バックエンドとは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sz="3200" dirty="0"/>
              <a:t>サーバ側で動くプログラムのこと</a:t>
            </a:r>
            <a:endParaRPr kumimoji="1" lang="ja-JP" altLang="en-US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A9C7E4E3-529E-8555-CD54-2D2F7F9B4A15}"/>
              </a:ext>
            </a:extLst>
          </p:cNvPr>
          <p:cNvGrpSpPr/>
          <p:nvPr/>
        </p:nvGrpSpPr>
        <p:grpSpPr>
          <a:xfrm>
            <a:off x="838200" y="2571158"/>
            <a:ext cx="3008587" cy="1505477"/>
            <a:chOff x="838199" y="3212087"/>
            <a:chExt cx="3008587" cy="1505477"/>
          </a:xfrm>
          <a:solidFill>
            <a:schemeClr val="bg1"/>
          </a:solidFill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035A2D3F-8410-B243-1601-994EDAA590DD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847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en-US" altLang="ja-JP" sz="3200" dirty="0"/>
                <a:t>PHP</a:t>
              </a:r>
              <a:endParaRPr kumimoji="1" lang="ja-JP" altLang="en-US" sz="3200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7D8F9F8-C371-DE71-5A30-12469FBB8041}"/>
                </a:ext>
              </a:extLst>
            </p:cNvPr>
            <p:cNvSpPr txBox="1"/>
            <p:nvPr/>
          </p:nvSpPr>
          <p:spPr>
            <a:xfrm>
              <a:off x="838200" y="3794234"/>
              <a:ext cx="3008586" cy="9233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&lt;?</a:t>
              </a:r>
              <a:r>
                <a:rPr kumimoji="1" lang="en-US" altLang="ja-JP" dirty="0" err="1"/>
                <a:t>php</a:t>
              </a:r>
              <a:endParaRPr kumimoji="1" lang="en-US" altLang="ja-JP" dirty="0"/>
            </a:p>
            <a:p>
              <a:r>
                <a:rPr lang="en-US" altLang="ja-JP" dirty="0"/>
                <a:t>echo ‘hello’;</a:t>
              </a:r>
              <a:endParaRPr kumimoji="1" lang="en-US" altLang="ja-JP" dirty="0"/>
            </a:p>
            <a:p>
              <a:r>
                <a:rPr lang="en-US" altLang="ja-JP" dirty="0"/>
                <a:t>?&gt;</a:t>
              </a:r>
              <a:endParaRPr kumimoji="1" lang="ja-JP" altLang="en-US" dirty="0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8EC5743-D025-90C8-7C7E-0FD2F61669D7}"/>
              </a:ext>
            </a:extLst>
          </p:cNvPr>
          <p:cNvGrpSpPr/>
          <p:nvPr/>
        </p:nvGrpSpPr>
        <p:grpSpPr>
          <a:xfrm>
            <a:off x="4353910" y="2571158"/>
            <a:ext cx="3008587" cy="1505477"/>
            <a:chOff x="838199" y="3212087"/>
            <a:chExt cx="3008587" cy="1505477"/>
          </a:xfrm>
          <a:solidFill>
            <a:schemeClr val="bg1"/>
          </a:solidFill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EE78404-E32E-D743-9E21-9A834340A0DA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847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en-US" altLang="ja-JP" sz="3200" dirty="0"/>
                <a:t>SQL</a:t>
              </a:r>
              <a:endParaRPr kumimoji="1" lang="ja-JP" altLang="en-US" sz="3200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D90B081-853D-2384-2250-1F4D6512FD33}"/>
                </a:ext>
              </a:extLst>
            </p:cNvPr>
            <p:cNvSpPr txBox="1"/>
            <p:nvPr/>
          </p:nvSpPr>
          <p:spPr>
            <a:xfrm>
              <a:off x="838200" y="3794234"/>
              <a:ext cx="3008586" cy="9233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dirty="0"/>
                <a:t>SELECT * FROM users;</a:t>
              </a:r>
            </a:p>
            <a:p>
              <a:r>
                <a:rPr lang="en-US" altLang="ja-JP" dirty="0"/>
                <a:t>INSERT INTO users(name)</a:t>
              </a:r>
            </a:p>
            <a:p>
              <a:r>
                <a:rPr kumimoji="1" lang="en-US" altLang="ja-JP" dirty="0"/>
                <a:t>VALUES(‘SHIMADA’)</a:t>
              </a:r>
              <a:endParaRPr kumimoji="1" lang="ja-JP" altLang="en-US" dirty="0"/>
            </a:p>
          </p:txBody>
        </p:sp>
      </p:grpSp>
      <p:sp>
        <p:nvSpPr>
          <p:cNvPr id="16" name="フローチャート: 書類 15">
            <a:extLst>
              <a:ext uri="{FF2B5EF4-FFF2-40B4-BE49-F238E27FC236}">
                <a16:creationId xmlns:a16="http://schemas.microsoft.com/office/drawing/2014/main" id="{08B71991-82FA-38DD-4499-1FEFB06F67CC}"/>
              </a:ext>
            </a:extLst>
          </p:cNvPr>
          <p:cNvSpPr/>
          <p:nvPr/>
        </p:nvSpPr>
        <p:spPr>
          <a:xfrm>
            <a:off x="838200" y="5305311"/>
            <a:ext cx="10515600" cy="1076439"/>
          </a:xfrm>
          <a:prstGeom prst="flowChartDocumen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認証やデータの保存</a:t>
            </a:r>
            <a:r>
              <a:rPr lang="ja-JP" altLang="en-US" sz="2800" dirty="0"/>
              <a:t>など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42347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98CF43-0413-A66B-B1D7-8C790467D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フロントエンドとバックエンド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BC4043-7111-C9D7-B320-89E38B3F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794069"/>
          </a:xfrm>
        </p:spPr>
        <p:txBody>
          <a:bodyPr/>
          <a:lstStyle/>
          <a:p>
            <a:r>
              <a:rPr kumimoji="1" lang="ja-JP" altLang="en-US" dirty="0"/>
              <a:t>フロントエンドとバックエンドの流れ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フロントエンド</a:t>
            </a:r>
            <a:endParaRPr kumimoji="1"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AECA13EF-753B-1954-E0E1-396BCF4AC1A4}"/>
              </a:ext>
            </a:extLst>
          </p:cNvPr>
          <p:cNvGrpSpPr/>
          <p:nvPr/>
        </p:nvGrpSpPr>
        <p:grpSpPr>
          <a:xfrm>
            <a:off x="9184777" y="2286023"/>
            <a:ext cx="2258291" cy="2442957"/>
            <a:chOff x="4969173" y="2203282"/>
            <a:chExt cx="2258291" cy="2442957"/>
          </a:xfrm>
        </p:grpSpPr>
        <p:pic>
          <p:nvPicPr>
            <p:cNvPr id="7" name="グラフィックス 6" descr="データベース 枠線">
              <a:extLst>
                <a:ext uri="{FF2B5EF4-FFF2-40B4-BE49-F238E27FC236}">
                  <a16:creationId xmlns:a16="http://schemas.microsoft.com/office/drawing/2014/main" id="{BBF53E69-7B6B-4293-2FEF-86EB641FE8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58A29D0-C395-C157-4D3B-6D6B76BAD2B8}"/>
                </a:ext>
              </a:extLst>
            </p:cNvPr>
            <p:cNvSpPr txBox="1"/>
            <p:nvPr/>
          </p:nvSpPr>
          <p:spPr>
            <a:xfrm>
              <a:off x="5627505" y="2203282"/>
              <a:ext cx="947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sp>
        <p:nvSpPr>
          <p:cNvPr id="9" name="フローチャート: 書類 8">
            <a:extLst>
              <a:ext uri="{FF2B5EF4-FFF2-40B4-BE49-F238E27FC236}">
                <a16:creationId xmlns:a16="http://schemas.microsoft.com/office/drawing/2014/main" id="{8444FEED-7BE9-3436-857E-D8360C614C14}"/>
              </a:ext>
            </a:extLst>
          </p:cNvPr>
          <p:cNvSpPr/>
          <p:nvPr/>
        </p:nvSpPr>
        <p:spPr>
          <a:xfrm>
            <a:off x="6842234" y="3772880"/>
            <a:ext cx="2342543" cy="89970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フロントエンド用コード</a:t>
            </a:r>
            <a:endParaRPr kumimoji="1" lang="en-US" altLang="ja-JP" dirty="0"/>
          </a:p>
          <a:p>
            <a:pPr algn="ctr"/>
            <a:r>
              <a:rPr lang="en-US" altLang="ja-JP" dirty="0" err="1"/>
              <a:t>HTML,CSS,javascript</a:t>
            </a:r>
            <a:endParaRPr kumimoji="1" lang="ja-JP" altLang="en-US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CFD7E31-CB19-4296-7DBA-38AE87710389}"/>
              </a:ext>
            </a:extLst>
          </p:cNvPr>
          <p:cNvGrpSpPr/>
          <p:nvPr/>
        </p:nvGrpSpPr>
        <p:grpSpPr>
          <a:xfrm>
            <a:off x="385559" y="2508031"/>
            <a:ext cx="2158761" cy="2203867"/>
            <a:chOff x="849117" y="2731969"/>
            <a:chExt cx="1695203" cy="1715466"/>
          </a:xfrm>
        </p:grpSpPr>
        <p:pic>
          <p:nvPicPr>
            <p:cNvPr id="5" name="グラフィックス 4" descr="ノート PC 枠線">
              <a:extLst>
                <a:ext uri="{FF2B5EF4-FFF2-40B4-BE49-F238E27FC236}">
                  <a16:creationId xmlns:a16="http://schemas.microsoft.com/office/drawing/2014/main" id="{217EFDB6-1843-144E-FBD1-D5C12D6C77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9117" y="2752232"/>
              <a:ext cx="1695203" cy="1695203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E0C6A19-ADBE-B28D-35AA-5D9A7B937586}"/>
                </a:ext>
              </a:extLst>
            </p:cNvPr>
            <p:cNvSpPr txBox="1"/>
            <p:nvPr/>
          </p:nvSpPr>
          <p:spPr>
            <a:xfrm>
              <a:off x="1036007" y="2731969"/>
              <a:ext cx="13214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クライアント</a:t>
              </a:r>
              <a:endParaRPr kumimoji="1" lang="ja-JP" altLang="en-US" dirty="0"/>
            </a:p>
          </p:txBody>
        </p:sp>
      </p:grp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C384B8F-802D-B4D7-C299-632267BADD00}"/>
              </a:ext>
            </a:extLst>
          </p:cNvPr>
          <p:cNvCxnSpPr>
            <a:cxnSpLocks/>
          </p:cNvCxnSpPr>
          <p:nvPr/>
        </p:nvCxnSpPr>
        <p:spPr>
          <a:xfrm flipH="1">
            <a:off x="2544320" y="3599834"/>
            <a:ext cx="6640457" cy="1013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賢いプログラムのキャラクター">
            <a:extLst>
              <a:ext uri="{FF2B5EF4-FFF2-40B4-BE49-F238E27FC236}">
                <a16:creationId xmlns:a16="http://schemas.microsoft.com/office/drawing/2014/main" id="{79BFCBE8-066E-B2D6-A6CE-982EBEF38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462042" y="4457567"/>
            <a:ext cx="2158761" cy="215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9070423F-010C-D420-6FDA-66F0F9E15E1E}"/>
              </a:ext>
            </a:extLst>
          </p:cNvPr>
          <p:cNvSpPr/>
          <p:nvPr/>
        </p:nvSpPr>
        <p:spPr>
          <a:xfrm>
            <a:off x="1696717" y="4840238"/>
            <a:ext cx="2158761" cy="1188511"/>
          </a:xfrm>
          <a:prstGeom prst="wedgeRoundRectCallout">
            <a:avLst>
              <a:gd name="adj1" fmla="val -83384"/>
              <a:gd name="adj2" fmla="val 401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受け取ったコードを</a:t>
            </a:r>
            <a:r>
              <a:rPr lang="ja-JP" altLang="en-US" dirty="0"/>
              <a:t>元</a:t>
            </a:r>
            <a:r>
              <a:rPr kumimoji="1" lang="ja-JP" altLang="en-US" dirty="0"/>
              <a:t>に画面を生成</a:t>
            </a:r>
          </a:p>
        </p:txBody>
      </p:sp>
    </p:spTree>
    <p:extLst>
      <p:ext uri="{BB962C8B-B14F-4D97-AF65-F5344CB8AC3E}">
        <p14:creationId xmlns:p14="http://schemas.microsoft.com/office/powerpoint/2010/main" val="387348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-0.37903 -7.40741E-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EE968-07D3-14C2-A7ED-286618E0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74E496-B746-1269-A84E-13AC8A7A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フロントエンドとバックエンド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A5D352-2002-8EC7-29B0-2F6E822C5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794069"/>
          </a:xfrm>
        </p:spPr>
        <p:txBody>
          <a:bodyPr/>
          <a:lstStyle/>
          <a:p>
            <a:r>
              <a:rPr kumimoji="1" lang="ja-JP" altLang="en-US" dirty="0"/>
              <a:t>フロントエンドとバックエンドの流れ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71B94E0-A9D0-F871-62E0-75F992B69C7C}"/>
              </a:ext>
            </a:extLst>
          </p:cNvPr>
          <p:cNvGrpSpPr/>
          <p:nvPr/>
        </p:nvGrpSpPr>
        <p:grpSpPr>
          <a:xfrm>
            <a:off x="4966854" y="2268941"/>
            <a:ext cx="2258291" cy="2442957"/>
            <a:chOff x="4969173" y="2203282"/>
            <a:chExt cx="2258291" cy="2442957"/>
          </a:xfrm>
        </p:grpSpPr>
        <p:pic>
          <p:nvPicPr>
            <p:cNvPr id="7" name="グラフィックス 6" descr="データベース 枠線">
              <a:extLst>
                <a:ext uri="{FF2B5EF4-FFF2-40B4-BE49-F238E27FC236}">
                  <a16:creationId xmlns:a16="http://schemas.microsoft.com/office/drawing/2014/main" id="{4ADABF64-6DA7-C097-B5B0-7E962765C7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87840AB-FAD2-61AD-71F8-D2A0F4DAD407}"/>
                </a:ext>
              </a:extLst>
            </p:cNvPr>
            <p:cNvSpPr txBox="1"/>
            <p:nvPr/>
          </p:nvSpPr>
          <p:spPr>
            <a:xfrm>
              <a:off x="5627505" y="2203282"/>
              <a:ext cx="947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AC34296-3F7D-AC5A-F298-23A03BAD8BE7}"/>
              </a:ext>
            </a:extLst>
          </p:cNvPr>
          <p:cNvGrpSpPr/>
          <p:nvPr/>
        </p:nvGrpSpPr>
        <p:grpSpPr>
          <a:xfrm>
            <a:off x="425042" y="2682567"/>
            <a:ext cx="2158761" cy="2203867"/>
            <a:chOff x="849117" y="2731969"/>
            <a:chExt cx="1695203" cy="1715466"/>
          </a:xfrm>
        </p:grpSpPr>
        <p:pic>
          <p:nvPicPr>
            <p:cNvPr id="5" name="グラフィックス 4" descr="ノート PC 枠線">
              <a:extLst>
                <a:ext uri="{FF2B5EF4-FFF2-40B4-BE49-F238E27FC236}">
                  <a16:creationId xmlns:a16="http://schemas.microsoft.com/office/drawing/2014/main" id="{364313AF-0A00-5F4E-EF88-CFA68BB7C6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9117" y="2752232"/>
              <a:ext cx="1695203" cy="1695203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82FEFE2B-7D17-7890-C748-C3CF1729B7C6}"/>
                </a:ext>
              </a:extLst>
            </p:cNvPr>
            <p:cNvSpPr txBox="1"/>
            <p:nvPr/>
          </p:nvSpPr>
          <p:spPr>
            <a:xfrm>
              <a:off x="1036007" y="2731969"/>
              <a:ext cx="13214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クライアント</a:t>
              </a:r>
              <a:endParaRPr kumimoji="1" lang="ja-JP" altLang="en-US" dirty="0"/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48CE43E8-01E8-337E-5CEA-888947EA72E2}"/>
              </a:ext>
            </a:extLst>
          </p:cNvPr>
          <p:cNvGrpSpPr/>
          <p:nvPr/>
        </p:nvGrpSpPr>
        <p:grpSpPr>
          <a:xfrm>
            <a:off x="2332449" y="1823535"/>
            <a:ext cx="2796599" cy="2914901"/>
            <a:chOff x="2332449" y="1823535"/>
            <a:chExt cx="2796599" cy="2914901"/>
          </a:xfrm>
        </p:grpSpPr>
        <p:sp>
          <p:nvSpPr>
            <p:cNvPr id="9" name="フローチャート: 書類 8">
              <a:extLst>
                <a:ext uri="{FF2B5EF4-FFF2-40B4-BE49-F238E27FC236}">
                  <a16:creationId xmlns:a16="http://schemas.microsoft.com/office/drawing/2014/main" id="{20A6B966-E739-2CB9-F662-C7A68BEA20F1}"/>
                </a:ext>
              </a:extLst>
            </p:cNvPr>
            <p:cNvSpPr/>
            <p:nvPr/>
          </p:nvSpPr>
          <p:spPr>
            <a:xfrm>
              <a:off x="2604057" y="3838731"/>
              <a:ext cx="2342543" cy="89970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フォームの入力内容を送信</a:t>
              </a:r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C6C5CCAB-0746-6708-8021-3EB49C82FD02}"/>
                </a:ext>
              </a:extLst>
            </p:cNvPr>
            <p:cNvCxnSpPr>
              <a:cxnSpLocks/>
            </p:cNvCxnSpPr>
            <p:nvPr/>
          </p:nvCxnSpPr>
          <p:spPr>
            <a:xfrm>
              <a:off x="2544320" y="3599834"/>
              <a:ext cx="2584728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BFF7D832-455F-304A-F554-CBB3254C71A5}"/>
                </a:ext>
              </a:extLst>
            </p:cNvPr>
            <p:cNvGrpSpPr/>
            <p:nvPr/>
          </p:nvGrpSpPr>
          <p:grpSpPr>
            <a:xfrm>
              <a:off x="2332449" y="1823535"/>
              <a:ext cx="2258292" cy="2145377"/>
              <a:chOff x="2842839" y="1946580"/>
              <a:chExt cx="2258292" cy="2145377"/>
            </a:xfrm>
          </p:grpSpPr>
          <p:pic>
            <p:nvPicPr>
              <p:cNvPr id="6146" name="Picture 2" descr="配達伝票のイラスト">
                <a:extLst>
                  <a:ext uri="{FF2B5EF4-FFF2-40B4-BE49-F238E27FC236}">
                    <a16:creationId xmlns:a16="http://schemas.microsoft.com/office/drawing/2014/main" id="{4B1D9C54-86CD-8188-AB78-06989B5337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2839" y="1946580"/>
                <a:ext cx="2258292" cy="21453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779D26A5-95B7-3286-FF37-3BECD2C1E7B2}"/>
                  </a:ext>
                </a:extLst>
              </p:cNvPr>
              <p:cNvSpPr txBox="1"/>
              <p:nvPr/>
            </p:nvSpPr>
            <p:spPr>
              <a:xfrm rot="19893409">
                <a:off x="3048970" y="2550764"/>
                <a:ext cx="17737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東光町</a:t>
                </a:r>
                <a:r>
                  <a:rPr kumimoji="1" lang="en-US" altLang="ja-JP" dirty="0"/>
                  <a:t>117-3</a:t>
                </a:r>
                <a:endParaRPr kumimoji="1" lang="ja-JP" altLang="en-US" dirty="0"/>
              </a:p>
            </p:txBody>
          </p:sp>
        </p:grp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759FAB8C-D65D-AD83-5918-149B269FE598}"/>
              </a:ext>
            </a:extLst>
          </p:cNvPr>
          <p:cNvGrpSpPr/>
          <p:nvPr/>
        </p:nvGrpSpPr>
        <p:grpSpPr>
          <a:xfrm>
            <a:off x="1108124" y="4686749"/>
            <a:ext cx="4918840" cy="1581386"/>
            <a:chOff x="1108124" y="4686749"/>
            <a:chExt cx="4918840" cy="1581386"/>
          </a:xfrm>
        </p:grpSpPr>
        <p:sp>
          <p:nvSpPr>
            <p:cNvPr id="40" name="矢印: U ターン 39">
              <a:extLst>
                <a:ext uri="{FF2B5EF4-FFF2-40B4-BE49-F238E27FC236}">
                  <a16:creationId xmlns:a16="http://schemas.microsoft.com/office/drawing/2014/main" id="{9A30D085-29E7-065A-AC80-D89823DCFB99}"/>
                </a:ext>
              </a:extLst>
            </p:cNvPr>
            <p:cNvSpPr/>
            <p:nvPr/>
          </p:nvSpPr>
          <p:spPr>
            <a:xfrm rot="10800000">
              <a:off x="1108124" y="4686749"/>
              <a:ext cx="4918840" cy="662151"/>
            </a:xfrm>
            <a:prstGeom prst="uturnArrow">
              <a:avLst>
                <a:gd name="adj1" fmla="val 12302"/>
                <a:gd name="adj2" fmla="val 25000"/>
                <a:gd name="adj3" fmla="val 25000"/>
                <a:gd name="adj4" fmla="val 43750"/>
                <a:gd name="adj5" fmla="val 75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フローチャート: 書類 40">
              <a:extLst>
                <a:ext uri="{FF2B5EF4-FFF2-40B4-BE49-F238E27FC236}">
                  <a16:creationId xmlns:a16="http://schemas.microsoft.com/office/drawing/2014/main" id="{254BDF23-A19A-B1CE-A903-6B6C8526F7B5}"/>
                </a:ext>
              </a:extLst>
            </p:cNvPr>
            <p:cNvSpPr/>
            <p:nvPr/>
          </p:nvSpPr>
          <p:spPr>
            <a:xfrm>
              <a:off x="2624311" y="5516998"/>
              <a:ext cx="2342543" cy="751137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保存したよ！</a:t>
              </a:r>
              <a:endParaRPr kumimoji="1" lang="ja-JP" altLang="en-US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AFE7A15-F734-E33E-7D6F-C0175A293B65}"/>
              </a:ext>
            </a:extLst>
          </p:cNvPr>
          <p:cNvGrpSpPr/>
          <p:nvPr/>
        </p:nvGrpSpPr>
        <p:grpSpPr>
          <a:xfrm>
            <a:off x="9372295" y="2535383"/>
            <a:ext cx="1582661" cy="1787234"/>
            <a:chOff x="8044628" y="2059277"/>
            <a:chExt cx="1582661" cy="1787234"/>
          </a:xfrm>
        </p:grpSpPr>
        <p:pic>
          <p:nvPicPr>
            <p:cNvPr id="18" name="グラフィックス 17" descr="データベース 単色塗りつぶし">
              <a:extLst>
                <a:ext uri="{FF2B5EF4-FFF2-40B4-BE49-F238E27FC236}">
                  <a16:creationId xmlns:a16="http://schemas.microsoft.com/office/drawing/2014/main" id="{59D80491-B6FA-D163-E75A-6F42B1894F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44628" y="2364552"/>
              <a:ext cx="1481959" cy="1481959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C5530BFB-857F-0FAA-2890-CF7E63CEF265}"/>
                </a:ext>
              </a:extLst>
            </p:cNvPr>
            <p:cNvSpPr txBox="1"/>
            <p:nvPr/>
          </p:nvSpPr>
          <p:spPr>
            <a:xfrm>
              <a:off x="8069863" y="2059277"/>
              <a:ext cx="15574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データベース</a:t>
              </a:r>
            </a:p>
          </p:txBody>
        </p: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B796B5D1-A36A-A71B-37ED-9F000D82C0AA}"/>
              </a:ext>
            </a:extLst>
          </p:cNvPr>
          <p:cNvGrpSpPr/>
          <p:nvPr/>
        </p:nvGrpSpPr>
        <p:grpSpPr>
          <a:xfrm>
            <a:off x="7225145" y="2919808"/>
            <a:ext cx="2046448" cy="717093"/>
            <a:chOff x="7225145" y="2864544"/>
            <a:chExt cx="2046448" cy="717093"/>
          </a:xfrm>
        </p:grpSpPr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D6AB0954-A2E7-2B2B-B884-4A769CF1E4DB}"/>
                </a:ext>
              </a:extLst>
            </p:cNvPr>
            <p:cNvCxnSpPr>
              <a:cxnSpLocks/>
            </p:cNvCxnSpPr>
            <p:nvPr/>
          </p:nvCxnSpPr>
          <p:spPr>
            <a:xfrm>
              <a:off x="7225145" y="3581637"/>
              <a:ext cx="2046448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F6C1EC24-A70A-6AA1-F399-519154D6AE03}"/>
                </a:ext>
              </a:extLst>
            </p:cNvPr>
            <p:cNvSpPr txBox="1"/>
            <p:nvPr/>
          </p:nvSpPr>
          <p:spPr>
            <a:xfrm>
              <a:off x="7386657" y="2864544"/>
              <a:ext cx="1773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東光町</a:t>
              </a:r>
              <a:r>
                <a:rPr kumimoji="1" lang="en-US" altLang="ja-JP" dirty="0"/>
                <a:t>117-3</a:t>
              </a:r>
            </a:p>
            <a:p>
              <a:r>
                <a:rPr kumimoji="1" lang="ja-JP" altLang="en-US" dirty="0"/>
                <a:t>を保存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14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0F6840-D254-0B47-51B4-07A4C652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開発手法</a:t>
            </a:r>
          </a:p>
        </p:txBody>
      </p:sp>
    </p:spTree>
    <p:extLst>
      <p:ext uri="{BB962C8B-B14F-4D97-AF65-F5344CB8AC3E}">
        <p14:creationId xmlns:p14="http://schemas.microsoft.com/office/powerpoint/2010/main" val="3020922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21CCD-E4E1-F99D-5BC8-38E26BBD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API</a:t>
            </a:r>
            <a:r>
              <a:rPr kumimoji="1" lang="ja-JP" altLang="en-US" dirty="0"/>
              <a:t>方式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3D692D-780A-6626-2078-4722F8F2E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1"/>
            <a:ext cx="10515600" cy="794068"/>
          </a:xfrm>
        </p:spPr>
        <p:txBody>
          <a:bodyPr/>
          <a:lstStyle/>
          <a:p>
            <a:r>
              <a:rPr kumimoji="1" lang="en-US" altLang="ja-JP" dirty="0"/>
              <a:t>API=</a:t>
            </a:r>
            <a:r>
              <a:rPr kumimoji="1" lang="ja-JP" altLang="en-US" dirty="0"/>
              <a:t>レストラン</a:t>
            </a:r>
          </a:p>
        </p:txBody>
      </p:sp>
      <p:sp>
        <p:nvSpPr>
          <p:cNvPr id="4" name="フローチャート: 書類 3">
            <a:extLst>
              <a:ext uri="{FF2B5EF4-FFF2-40B4-BE49-F238E27FC236}">
                <a16:creationId xmlns:a16="http://schemas.microsoft.com/office/drawing/2014/main" id="{F361E319-9C7E-E5B7-4CB3-DFC2ABBB1FD9}"/>
              </a:ext>
            </a:extLst>
          </p:cNvPr>
          <p:cNvSpPr/>
          <p:nvPr/>
        </p:nvSpPr>
        <p:spPr>
          <a:xfrm>
            <a:off x="963412" y="2594340"/>
            <a:ext cx="3218793" cy="1368972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ディアボラ風ハンバーグ</a:t>
            </a:r>
            <a:r>
              <a:rPr lang="en-US" altLang="ja-JP" dirty="0"/>
              <a:t>×1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たらこソースシシリー風</a:t>
            </a:r>
            <a:r>
              <a:rPr lang="en-US" altLang="ja-JP" dirty="0"/>
              <a:t>×1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店員の名前</a:t>
            </a:r>
            <a:r>
              <a:rPr lang="en-US" altLang="ja-JP" dirty="0"/>
              <a:t>: SHIMADA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B99D2A3-9A62-7F90-58D9-DA8B7F3E19AA}"/>
              </a:ext>
            </a:extLst>
          </p:cNvPr>
          <p:cNvSpPr/>
          <p:nvPr/>
        </p:nvSpPr>
        <p:spPr>
          <a:xfrm>
            <a:off x="704193" y="1871029"/>
            <a:ext cx="4698124" cy="425669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082714-9C59-6D39-EE2C-174D22D7E49F}"/>
              </a:ext>
            </a:extLst>
          </p:cNvPr>
          <p:cNvSpPr txBox="1"/>
          <p:nvPr/>
        </p:nvSpPr>
        <p:spPr>
          <a:xfrm>
            <a:off x="838200" y="1871029"/>
            <a:ext cx="3469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フロントエンド</a:t>
            </a:r>
            <a:r>
              <a:rPr kumimoji="1" lang="en-US" altLang="ja-JP" sz="2800" dirty="0"/>
              <a:t>(</a:t>
            </a:r>
            <a:r>
              <a:rPr kumimoji="1" lang="ja-JP" altLang="en-US" sz="2800" dirty="0"/>
              <a:t>ホール</a:t>
            </a:r>
            <a:r>
              <a:rPr kumimoji="1" lang="en-US" altLang="ja-JP" sz="2800" dirty="0"/>
              <a:t>)</a:t>
            </a:r>
            <a:endParaRPr kumimoji="1" lang="ja-JP" altLang="en-US" sz="28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3CDB38-7C84-6EFB-F707-DACF04B3EBF9}"/>
              </a:ext>
            </a:extLst>
          </p:cNvPr>
          <p:cNvSpPr/>
          <p:nvPr/>
        </p:nvSpPr>
        <p:spPr>
          <a:xfrm>
            <a:off x="6096000" y="1871029"/>
            <a:ext cx="5257800" cy="425669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00895A-BDF1-42F3-7A20-1918B7FD2E5B}"/>
              </a:ext>
            </a:extLst>
          </p:cNvPr>
          <p:cNvSpPr txBox="1"/>
          <p:nvPr/>
        </p:nvSpPr>
        <p:spPr>
          <a:xfrm>
            <a:off x="6278557" y="1917231"/>
            <a:ext cx="386355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バックエンド</a:t>
            </a:r>
            <a:r>
              <a:rPr kumimoji="1" lang="en-US" altLang="ja-JP" sz="2800" dirty="0"/>
              <a:t>API(</a:t>
            </a:r>
            <a:r>
              <a:rPr kumimoji="1" lang="ja-JP" altLang="en-US" sz="2800" dirty="0"/>
              <a:t>厨房</a:t>
            </a:r>
            <a:r>
              <a:rPr kumimoji="1" lang="en-US" altLang="ja-JP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商品名をチェック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正規の店員が出したものかチェック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</p:txBody>
      </p:sp>
      <p:sp>
        <p:nvSpPr>
          <p:cNvPr id="10" name="フローチャート: 書類 9">
            <a:extLst>
              <a:ext uri="{FF2B5EF4-FFF2-40B4-BE49-F238E27FC236}">
                <a16:creationId xmlns:a16="http://schemas.microsoft.com/office/drawing/2014/main" id="{89B57833-6F82-D0DD-558A-5FE35E5B17E3}"/>
              </a:ext>
            </a:extLst>
          </p:cNvPr>
          <p:cNvSpPr/>
          <p:nvPr/>
        </p:nvSpPr>
        <p:spPr>
          <a:xfrm>
            <a:off x="6447947" y="4486533"/>
            <a:ext cx="1941787" cy="1214319"/>
          </a:xfrm>
          <a:prstGeom prst="flowChartDocumen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商品</a:t>
            </a:r>
          </a:p>
        </p:txBody>
      </p:sp>
      <p:sp>
        <p:nvSpPr>
          <p:cNvPr id="11" name="フローチャート: 書類 10">
            <a:extLst>
              <a:ext uri="{FF2B5EF4-FFF2-40B4-BE49-F238E27FC236}">
                <a16:creationId xmlns:a16="http://schemas.microsoft.com/office/drawing/2014/main" id="{E09C10D8-825E-AFC1-5392-C9919A6CFF4C}"/>
              </a:ext>
            </a:extLst>
          </p:cNvPr>
          <p:cNvSpPr/>
          <p:nvPr/>
        </p:nvSpPr>
        <p:spPr>
          <a:xfrm>
            <a:off x="8883870" y="4486532"/>
            <a:ext cx="2151992" cy="1214319"/>
          </a:xfrm>
          <a:prstGeom prst="flowChartDocumen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ウェイターに案内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0146238-95E0-2B68-82B4-4B848B0CC2CA}"/>
              </a:ext>
            </a:extLst>
          </p:cNvPr>
          <p:cNvSpPr txBox="1"/>
          <p:nvPr/>
        </p:nvSpPr>
        <p:spPr>
          <a:xfrm>
            <a:off x="6447947" y="39633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成功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5FB426-BB39-8CE3-AD56-6E21B7873724}"/>
              </a:ext>
            </a:extLst>
          </p:cNvPr>
          <p:cNvSpPr txBox="1"/>
          <p:nvPr/>
        </p:nvSpPr>
        <p:spPr>
          <a:xfrm>
            <a:off x="8883870" y="39633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失敗</a:t>
            </a:r>
            <a:endParaRPr kumimoji="1" lang="ja-JP" altLang="en-US" sz="2800" dirty="0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E0D20A7C-D8BC-F667-B5CC-F2B26BAB4FFB}"/>
              </a:ext>
            </a:extLst>
          </p:cNvPr>
          <p:cNvSpPr/>
          <p:nvPr/>
        </p:nvSpPr>
        <p:spPr>
          <a:xfrm rot="5400000">
            <a:off x="7870695" y="3355771"/>
            <a:ext cx="1008993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D85ED399-AA79-40BB-46F1-56F6E472F13B}"/>
              </a:ext>
            </a:extLst>
          </p:cNvPr>
          <p:cNvSpPr/>
          <p:nvPr/>
        </p:nvSpPr>
        <p:spPr>
          <a:xfrm flipH="1">
            <a:off x="4447368" y="4832081"/>
            <a:ext cx="1878469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C5AC5952-81FF-94DA-437F-23700573DAB2}"/>
              </a:ext>
            </a:extLst>
          </p:cNvPr>
          <p:cNvSpPr/>
          <p:nvPr/>
        </p:nvSpPr>
        <p:spPr>
          <a:xfrm>
            <a:off x="4378366" y="2665097"/>
            <a:ext cx="1878469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170" name="Picture 2" descr="配達伝票のイラスト">
            <a:extLst>
              <a:ext uri="{FF2B5EF4-FFF2-40B4-BE49-F238E27FC236}">
                <a16:creationId xmlns:a16="http://schemas.microsoft.com/office/drawing/2014/main" id="{18C3D857-8C25-C09F-FC2E-371418EAF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545" y="2635021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プリントを持っている先生のイラスト">
            <a:extLst>
              <a:ext uri="{FF2B5EF4-FFF2-40B4-BE49-F238E27FC236}">
                <a16:creationId xmlns:a16="http://schemas.microsoft.com/office/drawing/2014/main" id="{BC276BB6-63CA-F87C-98A5-14B25C03F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8919" y="1349221"/>
            <a:ext cx="1452074" cy="176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 descr="ハンバーグのイラスト">
            <a:extLst>
              <a:ext uri="{FF2B5EF4-FFF2-40B4-BE49-F238E27FC236}">
                <a16:creationId xmlns:a16="http://schemas.microsoft.com/office/drawing/2014/main" id="{53B5F608-E96E-29DD-FC22-F64C99F7A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341" y="4285024"/>
            <a:ext cx="1323216" cy="827010"/>
          </a:xfrm>
          <a:prstGeom prst="rect">
            <a:avLst/>
          </a:prstGeom>
        </p:spPr>
      </p:pic>
      <p:pic>
        <p:nvPicPr>
          <p:cNvPr id="7174" name="Picture 6" descr="ジェノベーゼのパスタのイラスト">
            <a:extLst>
              <a:ext uri="{FF2B5EF4-FFF2-40B4-BE49-F238E27FC236}">
                <a16:creationId xmlns:a16="http://schemas.microsoft.com/office/drawing/2014/main" id="{8C2DB317-8490-5D09-775E-3C0B51ECD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615" y="4685443"/>
            <a:ext cx="1419152" cy="117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図 17" descr="謝罪をする人のイラスト（女性）">
            <a:extLst>
              <a:ext uri="{FF2B5EF4-FFF2-40B4-BE49-F238E27FC236}">
                <a16:creationId xmlns:a16="http://schemas.microsoft.com/office/drawing/2014/main" id="{7DC55FEB-5690-B7B7-F187-431CECB63E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1629" y="4184703"/>
            <a:ext cx="1426405" cy="214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DD80ACA-EE72-EC13-DD07-1110047D4644}"/>
              </a:ext>
            </a:extLst>
          </p:cNvPr>
          <p:cNvSpPr/>
          <p:nvPr/>
        </p:nvSpPr>
        <p:spPr>
          <a:xfrm>
            <a:off x="241738" y="1765738"/>
            <a:ext cx="4677103" cy="470863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0AEB969-52B9-77D2-431C-2087B2F02DBD}"/>
              </a:ext>
            </a:extLst>
          </p:cNvPr>
          <p:cNvSpPr/>
          <p:nvPr/>
        </p:nvSpPr>
        <p:spPr>
          <a:xfrm>
            <a:off x="5478593" y="1776623"/>
            <a:ext cx="5231448" cy="470863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B923C6C-63E8-D48C-F648-89984FEC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API</a:t>
            </a:r>
            <a:r>
              <a:rPr lang="ja-JP" altLang="en-US" dirty="0"/>
              <a:t>方式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CCBBAE-2685-5ADD-A852-71EA0D537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794069"/>
          </a:xfrm>
        </p:spPr>
        <p:txBody>
          <a:bodyPr/>
          <a:lstStyle/>
          <a:p>
            <a:r>
              <a:rPr kumimoji="1" lang="ja-JP" altLang="en-US" dirty="0"/>
              <a:t>フロントエンドから</a:t>
            </a:r>
            <a:r>
              <a:rPr lang="ja-JP" altLang="en-US" dirty="0"/>
              <a:t>バックエンド</a:t>
            </a:r>
            <a:r>
              <a:rPr lang="en-US" altLang="ja-JP" dirty="0"/>
              <a:t>API(PHP)</a:t>
            </a:r>
            <a:r>
              <a:rPr lang="ja-JP" altLang="en-US" dirty="0"/>
              <a:t>に対しリクエスト</a:t>
            </a:r>
            <a:endParaRPr kumimoji="1" lang="ja-JP" altLang="en-US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3E4E100-E167-88FD-AB4E-5B1705F41F56}"/>
              </a:ext>
            </a:extLst>
          </p:cNvPr>
          <p:cNvGrpSpPr/>
          <p:nvPr/>
        </p:nvGrpSpPr>
        <p:grpSpPr>
          <a:xfrm>
            <a:off x="838200" y="1871029"/>
            <a:ext cx="4044697" cy="2478519"/>
            <a:chOff x="838200" y="2366751"/>
            <a:chExt cx="4044697" cy="2478519"/>
          </a:xfrm>
        </p:grpSpPr>
        <p:sp>
          <p:nvSpPr>
            <p:cNvPr id="4" name="フローチャート: 書類 3">
              <a:extLst>
                <a:ext uri="{FF2B5EF4-FFF2-40B4-BE49-F238E27FC236}">
                  <a16:creationId xmlns:a16="http://schemas.microsoft.com/office/drawing/2014/main" id="{79277457-FCDB-0E66-F7C1-E809BCABB35F}"/>
                </a:ext>
              </a:extLst>
            </p:cNvPr>
            <p:cNvSpPr/>
            <p:nvPr/>
          </p:nvSpPr>
          <p:spPr>
            <a:xfrm>
              <a:off x="838200" y="2889972"/>
              <a:ext cx="3226676" cy="1955298"/>
            </a:xfrm>
            <a:prstGeom prst="flowChartDocumen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dirty="0"/>
                <a:t>{</a:t>
              </a:r>
            </a:p>
            <a:p>
              <a:r>
                <a:rPr lang="en-US" altLang="ja-JP" dirty="0"/>
                <a:t>    “mail”           : ”</a:t>
              </a:r>
              <a:r>
                <a:rPr lang="en-US" altLang="ja-JP" dirty="0" err="1"/>
                <a:t>simada</a:t>
              </a:r>
              <a:r>
                <a:rPr lang="en-US" altLang="ja-JP" dirty="0"/>
                <a:t>”,</a:t>
              </a:r>
            </a:p>
            <a:p>
              <a:r>
                <a:rPr lang="en-US" altLang="ja-JP" dirty="0"/>
                <a:t>    “password” : ”</a:t>
              </a:r>
              <a:r>
                <a:rPr lang="en-US" altLang="ja-JP" dirty="0" err="1"/>
                <a:t>simadaaa</a:t>
              </a:r>
              <a:r>
                <a:rPr lang="en-US" altLang="ja-JP" dirty="0"/>
                <a:t>”,</a:t>
              </a:r>
            </a:p>
            <a:p>
              <a:r>
                <a:rPr lang="en-US" altLang="ja-JP" dirty="0"/>
                <a:t>    “</a:t>
              </a:r>
              <a:r>
                <a:rPr lang="en-US" altLang="ja-JP" dirty="0" err="1"/>
                <a:t>csrf_token</a:t>
              </a:r>
              <a:r>
                <a:rPr lang="en-US" altLang="ja-JP" dirty="0"/>
                <a:t>”: “token…”</a:t>
              </a:r>
            </a:p>
            <a:p>
              <a:r>
                <a:rPr lang="en-US" altLang="ja-JP" dirty="0"/>
                <a:t>}</a:t>
              </a:r>
              <a:endParaRPr kumimoji="1" lang="ja-JP" altLang="en-US" dirty="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B0E8A589-3BE3-0826-7618-C14D473E5547}"/>
                </a:ext>
              </a:extLst>
            </p:cNvPr>
            <p:cNvSpPr txBox="1"/>
            <p:nvPr/>
          </p:nvSpPr>
          <p:spPr>
            <a:xfrm>
              <a:off x="838200" y="2366751"/>
              <a:ext cx="40446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 dirty="0"/>
                <a:t>フロントエンド</a:t>
              </a:r>
              <a:r>
                <a:rPr kumimoji="1" lang="en-US" altLang="ja-JP" sz="2800" dirty="0"/>
                <a:t>(login.html)</a:t>
              </a:r>
              <a:endParaRPr kumimoji="1" lang="ja-JP" altLang="en-US" sz="2800" dirty="0"/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9597F9-5483-6809-FEEA-F45E5D82FDF5}"/>
              </a:ext>
            </a:extLst>
          </p:cNvPr>
          <p:cNvSpPr txBox="1"/>
          <p:nvPr/>
        </p:nvSpPr>
        <p:spPr>
          <a:xfrm>
            <a:off x="5609597" y="1875765"/>
            <a:ext cx="489268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バックエンド</a:t>
            </a:r>
            <a:r>
              <a:rPr kumimoji="1" lang="en-US" altLang="ja-JP" sz="2800" dirty="0"/>
              <a:t>API(</a:t>
            </a:r>
            <a:r>
              <a:rPr kumimoji="1" lang="en-US" altLang="ja-JP" sz="2800" dirty="0" err="1"/>
              <a:t>api</a:t>
            </a:r>
            <a:r>
              <a:rPr kumimoji="1" lang="en-US" altLang="ja-JP" sz="2800" dirty="0"/>
              <a:t>/</a:t>
            </a:r>
            <a:r>
              <a:rPr kumimoji="1" lang="en-US" altLang="ja-JP" sz="2800" dirty="0" err="1"/>
              <a:t>login.php</a:t>
            </a:r>
            <a:r>
              <a:rPr kumimoji="1" lang="en-US" altLang="ja-JP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Mail</a:t>
            </a:r>
            <a:r>
              <a:rPr kumimoji="1" lang="ja-JP" altLang="en-US" dirty="0"/>
              <a:t>アドレスとパスワードが合っているか検証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成功の場合</a:t>
            </a:r>
            <a:r>
              <a:rPr kumimoji="1" lang="en-US" altLang="ja-JP" dirty="0"/>
              <a:t>Session</a:t>
            </a:r>
            <a:r>
              <a:rPr kumimoji="1" lang="ja-JP" altLang="en-US" dirty="0"/>
              <a:t>に追加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CSRF</a:t>
            </a:r>
            <a:r>
              <a:rPr lang="ja-JP" altLang="en-US" dirty="0"/>
              <a:t>トークンを検証</a:t>
            </a:r>
            <a:endParaRPr lang="en-US" altLang="ja-JP" dirty="0"/>
          </a:p>
        </p:txBody>
      </p:sp>
      <p:sp>
        <p:nvSpPr>
          <p:cNvPr id="8" name="フローチャート: 書類 7">
            <a:extLst>
              <a:ext uri="{FF2B5EF4-FFF2-40B4-BE49-F238E27FC236}">
                <a16:creationId xmlns:a16="http://schemas.microsoft.com/office/drawing/2014/main" id="{C6711A7A-C808-B148-BB2B-749292A7BB93}"/>
              </a:ext>
            </a:extLst>
          </p:cNvPr>
          <p:cNvSpPr/>
          <p:nvPr/>
        </p:nvSpPr>
        <p:spPr>
          <a:xfrm>
            <a:off x="5691202" y="5081378"/>
            <a:ext cx="1941787" cy="1214319"/>
          </a:xfrm>
          <a:prstGeom prst="flowChartDocumen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/>
              <a:t>{</a:t>
            </a:r>
          </a:p>
          <a:p>
            <a:r>
              <a:rPr lang="en-US" altLang="ja-JP" dirty="0"/>
              <a:t>    “success”: true</a:t>
            </a:r>
          </a:p>
          <a:p>
            <a:r>
              <a:rPr lang="en-US" altLang="ja-JP" dirty="0"/>
              <a:t>}</a:t>
            </a:r>
            <a:endParaRPr kumimoji="1" lang="ja-JP" altLang="en-US" dirty="0"/>
          </a:p>
        </p:txBody>
      </p:sp>
      <p:sp>
        <p:nvSpPr>
          <p:cNvPr id="10" name="フローチャート: 書類 9">
            <a:extLst>
              <a:ext uri="{FF2B5EF4-FFF2-40B4-BE49-F238E27FC236}">
                <a16:creationId xmlns:a16="http://schemas.microsoft.com/office/drawing/2014/main" id="{418C4A06-018D-1DBC-26F6-25458C99FDD7}"/>
              </a:ext>
            </a:extLst>
          </p:cNvPr>
          <p:cNvSpPr/>
          <p:nvPr/>
        </p:nvSpPr>
        <p:spPr>
          <a:xfrm>
            <a:off x="8127125" y="5081377"/>
            <a:ext cx="2151992" cy="1214319"/>
          </a:xfrm>
          <a:prstGeom prst="flowChartDocumen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/>
              <a:t>{</a:t>
            </a:r>
          </a:p>
          <a:p>
            <a:r>
              <a:rPr lang="en-US" altLang="ja-JP" dirty="0"/>
              <a:t>    “success”: false</a:t>
            </a:r>
          </a:p>
          <a:p>
            <a:r>
              <a:rPr lang="en-US" altLang="ja-JP" dirty="0"/>
              <a:t>}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DB815F-A700-8C10-1D18-E7CAD93FB935}"/>
              </a:ext>
            </a:extLst>
          </p:cNvPr>
          <p:cNvSpPr txBox="1"/>
          <p:nvPr/>
        </p:nvSpPr>
        <p:spPr>
          <a:xfrm>
            <a:off x="5691202" y="455815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成功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AABC6D-2187-B09C-DD7D-1DF282E65165}"/>
              </a:ext>
            </a:extLst>
          </p:cNvPr>
          <p:cNvSpPr txBox="1"/>
          <p:nvPr/>
        </p:nvSpPr>
        <p:spPr>
          <a:xfrm>
            <a:off x="8127125" y="455815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失敗</a:t>
            </a:r>
            <a:endParaRPr kumimoji="1" lang="ja-JP" altLang="en-US" sz="2800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EFDB0C24-130E-41A3-E2F5-C7A2B45D7720}"/>
              </a:ext>
            </a:extLst>
          </p:cNvPr>
          <p:cNvSpPr/>
          <p:nvPr/>
        </p:nvSpPr>
        <p:spPr>
          <a:xfrm>
            <a:off x="4332740" y="2691373"/>
            <a:ext cx="1008993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29DAF5D6-CB9C-F43F-FBED-7A0E6060FC79}"/>
              </a:ext>
            </a:extLst>
          </p:cNvPr>
          <p:cNvSpPr/>
          <p:nvPr/>
        </p:nvSpPr>
        <p:spPr>
          <a:xfrm rot="5400000">
            <a:off x="7361018" y="3846152"/>
            <a:ext cx="1008993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14E75B5A-A03E-F075-7BC7-A1BCCD107BA5}"/>
              </a:ext>
            </a:extLst>
          </p:cNvPr>
          <p:cNvSpPr/>
          <p:nvPr/>
        </p:nvSpPr>
        <p:spPr>
          <a:xfrm flipH="1">
            <a:off x="4332739" y="5319310"/>
            <a:ext cx="1008993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427B89D-FA92-66C0-09EA-5798AF6DA824}"/>
              </a:ext>
            </a:extLst>
          </p:cNvPr>
          <p:cNvSpPr txBox="1"/>
          <p:nvPr/>
        </p:nvSpPr>
        <p:spPr>
          <a:xfrm>
            <a:off x="1015712" y="4980755"/>
            <a:ext cx="2871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成功！</a:t>
            </a:r>
            <a:endParaRPr lang="en-US" altLang="ja-JP" sz="2400" dirty="0"/>
          </a:p>
          <a:p>
            <a:r>
              <a:rPr kumimoji="1" lang="en-US" altLang="ja-JP" sz="2400" dirty="0"/>
              <a:t>or</a:t>
            </a:r>
          </a:p>
          <a:p>
            <a:r>
              <a:rPr lang="ja-JP" altLang="en-US" sz="2400" dirty="0"/>
              <a:t>失敗！</a:t>
            </a:r>
            <a:endParaRPr kumimoji="1" lang="en-US" altLang="ja-JP" sz="2400" dirty="0"/>
          </a:p>
        </p:txBody>
      </p:sp>
      <p:pic>
        <p:nvPicPr>
          <p:cNvPr id="20" name="Picture 2" descr="賢いプログラムのキャラクター">
            <a:extLst>
              <a:ext uri="{FF2B5EF4-FFF2-40B4-BE49-F238E27FC236}">
                <a16:creationId xmlns:a16="http://schemas.microsoft.com/office/drawing/2014/main" id="{065A8391-82F4-1F79-D09E-C5728D1FE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725" y="2645780"/>
            <a:ext cx="2153287" cy="21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772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FCCE3-33EA-D15A-2C54-C7BED29C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PHP</a:t>
            </a:r>
            <a:r>
              <a:rPr kumimoji="1" lang="ja-JP" altLang="en-US" dirty="0"/>
              <a:t>の復習</a:t>
            </a:r>
            <a:br>
              <a:rPr kumimoji="1" lang="en-US" altLang="ja-JP" dirty="0"/>
            </a:br>
            <a:r>
              <a:rPr kumimoji="1" lang="en-US" altLang="ja-JP" dirty="0"/>
              <a:t>Session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41119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A7DE60-3B62-FF95-DBA3-41064C3F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PHP</a:t>
            </a:r>
            <a:r>
              <a:rPr kumimoji="1" lang="ja-JP" altLang="en-US" dirty="0"/>
              <a:t>の復習 </a:t>
            </a:r>
            <a:r>
              <a:rPr kumimoji="1" lang="en-US" altLang="ja-JP" dirty="0"/>
              <a:t>Session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B03D04-FF4F-804D-BF7B-AABDE29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604695"/>
          </a:xfrm>
        </p:spPr>
        <p:txBody>
          <a:bodyPr/>
          <a:lstStyle/>
          <a:p>
            <a:r>
              <a:rPr kumimoji="1" lang="en-US" altLang="ja-JP" dirty="0"/>
              <a:t>Session</a:t>
            </a:r>
            <a:r>
              <a:rPr lang="ja-JP" altLang="en-US" dirty="0"/>
              <a:t>とは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クライアントの情報をサーバが保持しておく領域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282ECD0-6B2A-1D5C-0B2A-02044F70D41E}"/>
              </a:ext>
            </a:extLst>
          </p:cNvPr>
          <p:cNvCxnSpPr>
            <a:cxnSpLocks/>
          </p:cNvCxnSpPr>
          <p:nvPr/>
        </p:nvCxnSpPr>
        <p:spPr>
          <a:xfrm flipV="1">
            <a:off x="2973642" y="4095162"/>
            <a:ext cx="1877803" cy="9403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4B908907-D4A1-7113-F418-77E2DEE9BC91}"/>
              </a:ext>
            </a:extLst>
          </p:cNvPr>
          <p:cNvGrpSpPr/>
          <p:nvPr/>
        </p:nvGrpSpPr>
        <p:grpSpPr>
          <a:xfrm>
            <a:off x="1159686" y="2966017"/>
            <a:ext cx="1813956" cy="2045526"/>
            <a:chOff x="1201728" y="2387948"/>
            <a:chExt cx="1813956" cy="2045526"/>
          </a:xfrm>
        </p:grpSpPr>
        <p:pic>
          <p:nvPicPr>
            <p:cNvPr id="8" name="グラフィックス 7" descr="ユーザー 枠線">
              <a:extLst>
                <a:ext uri="{FF2B5EF4-FFF2-40B4-BE49-F238E27FC236}">
                  <a16:creationId xmlns:a16="http://schemas.microsoft.com/office/drawing/2014/main" id="{D3776665-2901-07DE-B653-68509900DE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70DE7F4-A64D-C48F-2090-816F1B76905F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SHIMADA</a:t>
              </a:r>
              <a:endParaRPr kumimoji="1" lang="ja-JP" altLang="en-US" dirty="0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5F7ACDA-F3E3-A656-2224-1B7BF5941AD4}"/>
              </a:ext>
            </a:extLst>
          </p:cNvPr>
          <p:cNvGrpSpPr/>
          <p:nvPr/>
        </p:nvGrpSpPr>
        <p:grpSpPr>
          <a:xfrm>
            <a:off x="4927131" y="2781351"/>
            <a:ext cx="2258291" cy="2442957"/>
            <a:chOff x="4969173" y="2203282"/>
            <a:chExt cx="2258291" cy="2442957"/>
          </a:xfrm>
        </p:grpSpPr>
        <p:pic>
          <p:nvPicPr>
            <p:cNvPr id="10" name="グラフィックス 9" descr="データベース 枠線">
              <a:extLst>
                <a:ext uri="{FF2B5EF4-FFF2-40B4-BE49-F238E27FC236}">
                  <a16:creationId xmlns:a16="http://schemas.microsoft.com/office/drawing/2014/main" id="{6CE3B409-B08D-9845-04F2-0D8F11210B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5CABFA5-B5C1-60F4-FACE-23977DE39908}"/>
                </a:ext>
              </a:extLst>
            </p:cNvPr>
            <p:cNvSpPr txBox="1"/>
            <p:nvPr/>
          </p:nvSpPr>
          <p:spPr>
            <a:xfrm>
              <a:off x="5627505" y="2203282"/>
              <a:ext cx="947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sp>
        <p:nvSpPr>
          <p:cNvPr id="16" name="フローチャート: 書類 15">
            <a:extLst>
              <a:ext uri="{FF2B5EF4-FFF2-40B4-BE49-F238E27FC236}">
                <a16:creationId xmlns:a16="http://schemas.microsoft.com/office/drawing/2014/main" id="{791F0735-DEE3-A782-D67E-4B354FDBD984}"/>
              </a:ext>
            </a:extLst>
          </p:cNvPr>
          <p:cNvSpPr/>
          <p:nvPr/>
        </p:nvSpPr>
        <p:spPr>
          <a:xfrm>
            <a:off x="6985045" y="2966017"/>
            <a:ext cx="3121572" cy="2258291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あいつのユーザ名は</a:t>
            </a:r>
            <a:r>
              <a:rPr kumimoji="1" lang="en-US" altLang="ja-JP" dirty="0"/>
              <a:t>SHIMADA</a:t>
            </a:r>
          </a:p>
          <a:p>
            <a:pPr algn="ctr"/>
            <a:endParaRPr kumimoji="1" lang="en-US" altLang="ja-JP" dirty="0"/>
          </a:p>
          <a:p>
            <a:pPr algn="ctr"/>
            <a:r>
              <a:rPr lang="ja-JP" altLang="en-US" dirty="0"/>
              <a:t>あいつの身長は</a:t>
            </a:r>
            <a:endParaRPr lang="en-US" altLang="ja-JP" dirty="0"/>
          </a:p>
          <a:p>
            <a:pPr algn="ctr"/>
            <a:r>
              <a:rPr kumimoji="1" lang="en-US" altLang="ja-JP" dirty="0"/>
              <a:t>170cm</a:t>
            </a:r>
            <a:r>
              <a:rPr kumimoji="1" lang="ja-JP" altLang="en-US" dirty="0"/>
              <a:t>以下</a:t>
            </a:r>
          </a:p>
        </p:txBody>
      </p:sp>
    </p:spTree>
    <p:extLst>
      <p:ext uri="{BB962C8B-B14F-4D97-AF65-F5344CB8AC3E}">
        <p14:creationId xmlns:p14="http://schemas.microsoft.com/office/powerpoint/2010/main" val="2441490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66687-9EAD-07C5-C608-0C3A38DE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</a:t>
            </a:r>
            <a:r>
              <a:rPr kumimoji="1" lang="en-US" altLang="ja-JP" dirty="0"/>
              <a:t>Session</a:t>
            </a:r>
            <a:r>
              <a:rPr kumimoji="1" lang="ja-JP" altLang="en-US" dirty="0"/>
              <a:t>を使うのか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4F0D60-A8CF-C55E-12CE-65CC036FE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489081"/>
          </a:xfrm>
        </p:spPr>
        <p:txBody>
          <a:bodyPr/>
          <a:lstStyle/>
          <a:p>
            <a:r>
              <a:rPr kumimoji="1" lang="ja-JP" altLang="en-US" dirty="0"/>
              <a:t>ログインが一度で済む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セッションに保存しない場合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ページごとに</a:t>
            </a:r>
            <a:r>
              <a:rPr lang="ja-JP" altLang="en-US" dirty="0"/>
              <a:t>アカウント名とパスワードを認証する必要がある</a:t>
            </a:r>
            <a:endParaRPr kumimoji="1" lang="ja-JP" altLang="en-US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8AC7F9BE-F559-C616-842E-454C0C2EB929}"/>
              </a:ext>
            </a:extLst>
          </p:cNvPr>
          <p:cNvGrpSpPr/>
          <p:nvPr/>
        </p:nvGrpSpPr>
        <p:grpSpPr>
          <a:xfrm>
            <a:off x="838200" y="4279810"/>
            <a:ext cx="1813956" cy="2045526"/>
            <a:chOff x="1201728" y="2387948"/>
            <a:chExt cx="1813956" cy="2045526"/>
          </a:xfrm>
        </p:grpSpPr>
        <p:pic>
          <p:nvPicPr>
            <p:cNvPr id="5" name="グラフィックス 4" descr="ユーザー 枠線">
              <a:extLst>
                <a:ext uri="{FF2B5EF4-FFF2-40B4-BE49-F238E27FC236}">
                  <a16:creationId xmlns:a16="http://schemas.microsoft.com/office/drawing/2014/main" id="{CDF9575A-628E-A7C1-E390-59A3B7C62F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58611EE3-2217-BB53-8998-1E949FB22332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SHIMADA</a:t>
              </a:r>
              <a:endParaRPr kumimoji="1" lang="ja-JP" altLang="en-US" dirty="0"/>
            </a:p>
          </p:txBody>
        </p:sp>
      </p:grpSp>
      <p:sp>
        <p:nvSpPr>
          <p:cNvPr id="7" name="フローチャート: 書類 6">
            <a:extLst>
              <a:ext uri="{FF2B5EF4-FFF2-40B4-BE49-F238E27FC236}">
                <a16:creationId xmlns:a16="http://schemas.microsoft.com/office/drawing/2014/main" id="{0A3A4A3E-3FDD-A076-E1FA-E435A452AA82}"/>
              </a:ext>
            </a:extLst>
          </p:cNvPr>
          <p:cNvSpPr/>
          <p:nvPr/>
        </p:nvSpPr>
        <p:spPr>
          <a:xfrm>
            <a:off x="838200" y="2856186"/>
            <a:ext cx="1852448" cy="114562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ログイン</a:t>
            </a:r>
            <a:r>
              <a:rPr lang="en-US" altLang="ja-JP" dirty="0"/>
              <a:t>.</a:t>
            </a:r>
            <a:r>
              <a:rPr lang="en-US" altLang="ja-JP" dirty="0" err="1"/>
              <a:t>php</a:t>
            </a:r>
            <a:endParaRPr lang="en-US" altLang="ja-JP" dirty="0"/>
          </a:p>
          <a:p>
            <a:pPr algn="ctr"/>
            <a:r>
              <a:rPr kumimoji="1" lang="en-US" altLang="ja-JP" dirty="0"/>
              <a:t>-&gt;</a:t>
            </a:r>
            <a:r>
              <a:rPr kumimoji="1" lang="ja-JP" altLang="en-US" dirty="0"/>
              <a:t>成功</a:t>
            </a:r>
          </a:p>
        </p:txBody>
      </p:sp>
      <p:sp>
        <p:nvSpPr>
          <p:cNvPr id="8" name="フローチャート: 書類 7">
            <a:extLst>
              <a:ext uri="{FF2B5EF4-FFF2-40B4-BE49-F238E27FC236}">
                <a16:creationId xmlns:a16="http://schemas.microsoft.com/office/drawing/2014/main" id="{0BC60C99-6406-AB7E-5AF9-5A105C326258}"/>
              </a:ext>
            </a:extLst>
          </p:cNvPr>
          <p:cNvSpPr/>
          <p:nvPr/>
        </p:nvSpPr>
        <p:spPr>
          <a:xfrm>
            <a:off x="3502571" y="2856186"/>
            <a:ext cx="2393731" cy="114562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ダッシュボード</a:t>
            </a:r>
            <a:r>
              <a:rPr lang="en-US" altLang="ja-JP" dirty="0"/>
              <a:t>.</a:t>
            </a:r>
            <a:r>
              <a:rPr lang="en-US" altLang="ja-JP" dirty="0" err="1"/>
              <a:t>php</a:t>
            </a:r>
            <a:endParaRPr kumimoji="1" lang="ja-JP" altLang="en-US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F7FE2D7-F9C5-E19C-7BF5-79CFE0A7A708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469931" y="3926075"/>
            <a:ext cx="2229506" cy="14342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163F312-CFE5-7DBC-B10F-1526C84BC270}"/>
              </a:ext>
            </a:extLst>
          </p:cNvPr>
          <p:cNvGrpSpPr/>
          <p:nvPr/>
        </p:nvGrpSpPr>
        <p:grpSpPr>
          <a:xfrm>
            <a:off x="4283887" y="3926075"/>
            <a:ext cx="2258291" cy="2442957"/>
            <a:chOff x="4969173" y="2203282"/>
            <a:chExt cx="2258291" cy="2442957"/>
          </a:xfrm>
        </p:grpSpPr>
        <p:pic>
          <p:nvPicPr>
            <p:cNvPr id="13" name="グラフィックス 12" descr="データベース 枠線">
              <a:extLst>
                <a:ext uri="{FF2B5EF4-FFF2-40B4-BE49-F238E27FC236}">
                  <a16:creationId xmlns:a16="http://schemas.microsoft.com/office/drawing/2014/main" id="{73F74704-13C3-4096-48E2-051D77D91C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D3BF183-FFC6-CB64-93BF-3856B38FBBEF}"/>
                </a:ext>
              </a:extLst>
            </p:cNvPr>
            <p:cNvSpPr txBox="1"/>
            <p:nvPr/>
          </p:nvSpPr>
          <p:spPr>
            <a:xfrm>
              <a:off x="5627505" y="2203282"/>
              <a:ext cx="947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744C518-8282-B60B-ABA6-3E2FC58BF33E}"/>
              </a:ext>
            </a:extLst>
          </p:cNvPr>
          <p:cNvSpPr txBox="1"/>
          <p:nvPr/>
        </p:nvSpPr>
        <p:spPr>
          <a:xfrm>
            <a:off x="6096000" y="3244334"/>
            <a:ext cx="4099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ほんとにログインしてんのか</a:t>
            </a:r>
            <a:r>
              <a:rPr lang="en-US" altLang="ja-JP" sz="2400" dirty="0"/>
              <a:t>?</a:t>
            </a:r>
            <a:endParaRPr kumimoji="1" lang="ja-JP" altLang="en-US" sz="2400" dirty="0"/>
          </a:p>
        </p:txBody>
      </p:sp>
      <p:pic>
        <p:nvPicPr>
          <p:cNvPr id="1026" name="Picture 2" descr="アルツハイマーのイラスト">
            <a:extLst>
              <a:ext uri="{FF2B5EF4-FFF2-40B4-BE49-F238E27FC236}">
                <a16:creationId xmlns:a16="http://schemas.microsoft.com/office/drawing/2014/main" id="{67243D42-869E-A206-083B-DA315D77F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032" y="4279810"/>
            <a:ext cx="2538160" cy="253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586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73CFC-3468-1C18-4E39-2E8059BD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F751B9-3C23-DA2B-8F6B-CE2856D0B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</a:t>
            </a:r>
            <a:r>
              <a:rPr kumimoji="1" lang="en-US" altLang="ja-JP" dirty="0"/>
              <a:t>Session</a:t>
            </a:r>
            <a:r>
              <a:rPr kumimoji="1" lang="ja-JP" altLang="en-US" dirty="0"/>
              <a:t>を使うのか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A0083F-8E10-E9DC-D88F-72EFA2514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489081"/>
          </a:xfrm>
        </p:spPr>
        <p:txBody>
          <a:bodyPr/>
          <a:lstStyle/>
          <a:p>
            <a:r>
              <a:rPr kumimoji="1" lang="ja-JP" altLang="en-US" dirty="0"/>
              <a:t>ログインが一度で済む</a:t>
            </a:r>
            <a:endParaRPr kumimoji="1" lang="en-US" altLang="ja-JP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41B166F-883F-661E-639F-6AE1094CE657}"/>
              </a:ext>
            </a:extLst>
          </p:cNvPr>
          <p:cNvGrpSpPr/>
          <p:nvPr/>
        </p:nvGrpSpPr>
        <p:grpSpPr>
          <a:xfrm>
            <a:off x="838200" y="4279810"/>
            <a:ext cx="1813956" cy="2045526"/>
            <a:chOff x="1201728" y="2387948"/>
            <a:chExt cx="1813956" cy="2045526"/>
          </a:xfrm>
        </p:grpSpPr>
        <p:pic>
          <p:nvPicPr>
            <p:cNvPr id="5" name="グラフィックス 4" descr="ユーザー 枠線">
              <a:extLst>
                <a:ext uri="{FF2B5EF4-FFF2-40B4-BE49-F238E27FC236}">
                  <a16:creationId xmlns:a16="http://schemas.microsoft.com/office/drawing/2014/main" id="{1D723F73-CEF5-6054-A1D6-EAA049E07B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3F77461-E5B5-61BC-0083-FC9C19CC4458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SHIMADA</a:t>
              </a:r>
              <a:endParaRPr kumimoji="1" lang="ja-JP" altLang="en-US" dirty="0"/>
            </a:p>
          </p:txBody>
        </p:sp>
      </p:grpSp>
      <p:sp>
        <p:nvSpPr>
          <p:cNvPr id="7" name="フローチャート: 書類 6">
            <a:extLst>
              <a:ext uri="{FF2B5EF4-FFF2-40B4-BE49-F238E27FC236}">
                <a16:creationId xmlns:a16="http://schemas.microsoft.com/office/drawing/2014/main" id="{1A40BF10-135B-DC70-B69D-B4A65A496F90}"/>
              </a:ext>
            </a:extLst>
          </p:cNvPr>
          <p:cNvSpPr/>
          <p:nvPr/>
        </p:nvSpPr>
        <p:spPr>
          <a:xfrm>
            <a:off x="838200" y="2856186"/>
            <a:ext cx="1852448" cy="114562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ログイン</a:t>
            </a:r>
            <a:r>
              <a:rPr lang="en-US" altLang="ja-JP" dirty="0"/>
              <a:t>.</a:t>
            </a:r>
            <a:r>
              <a:rPr lang="en-US" altLang="ja-JP" dirty="0" err="1"/>
              <a:t>php</a:t>
            </a:r>
            <a:endParaRPr lang="en-US" altLang="ja-JP" dirty="0"/>
          </a:p>
          <a:p>
            <a:pPr algn="ctr"/>
            <a:r>
              <a:rPr kumimoji="1" lang="en-US" altLang="ja-JP" dirty="0"/>
              <a:t>-&gt;</a:t>
            </a:r>
            <a:r>
              <a:rPr kumimoji="1" lang="ja-JP" altLang="en-US" dirty="0"/>
              <a:t>成功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1595EDC-2BBE-942C-00A2-5093558D2BF4}"/>
              </a:ext>
            </a:extLst>
          </p:cNvPr>
          <p:cNvGrpSpPr/>
          <p:nvPr/>
        </p:nvGrpSpPr>
        <p:grpSpPr>
          <a:xfrm>
            <a:off x="4157764" y="1566041"/>
            <a:ext cx="1170982" cy="1656943"/>
            <a:chOff x="4969173" y="2104693"/>
            <a:chExt cx="2258291" cy="2541546"/>
          </a:xfrm>
        </p:grpSpPr>
        <p:pic>
          <p:nvPicPr>
            <p:cNvPr id="13" name="グラフィックス 12" descr="データベース 枠線">
              <a:extLst>
                <a:ext uri="{FF2B5EF4-FFF2-40B4-BE49-F238E27FC236}">
                  <a16:creationId xmlns:a16="http://schemas.microsoft.com/office/drawing/2014/main" id="{D8EAB768-D7B3-9C8C-23AD-FA9FF32F9C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FB96E80-1EB3-30F4-1F91-5FC9EA431D2E}"/>
                </a:ext>
              </a:extLst>
            </p:cNvPr>
            <p:cNvSpPr txBox="1"/>
            <p:nvPr/>
          </p:nvSpPr>
          <p:spPr>
            <a:xfrm>
              <a:off x="5217261" y="2104693"/>
              <a:ext cx="1762115" cy="56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86CCCDA-8341-74F4-18B7-D857497975AD}"/>
              </a:ext>
            </a:extLst>
          </p:cNvPr>
          <p:cNvCxnSpPr>
            <a:cxnSpLocks/>
          </p:cNvCxnSpPr>
          <p:nvPr/>
        </p:nvCxnSpPr>
        <p:spPr>
          <a:xfrm flipH="1">
            <a:off x="2469931" y="2486845"/>
            <a:ext cx="1687833" cy="26718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9513A4A-D861-E85F-C404-95BFAA57E6C0}"/>
              </a:ext>
            </a:extLst>
          </p:cNvPr>
          <p:cNvSpPr txBox="1"/>
          <p:nvPr/>
        </p:nvSpPr>
        <p:spPr>
          <a:xfrm>
            <a:off x="3419825" y="3608352"/>
            <a:ext cx="1204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こいつは</a:t>
            </a:r>
            <a:endParaRPr lang="en-US" altLang="ja-JP" dirty="0"/>
          </a:p>
          <a:p>
            <a:r>
              <a:rPr kumimoji="1" lang="en-US" altLang="ja-JP" dirty="0"/>
              <a:t>SHIMADA</a:t>
            </a:r>
          </a:p>
        </p:txBody>
      </p:sp>
      <p:sp>
        <p:nvSpPr>
          <p:cNvPr id="19" name="フローチャート: 書類 18">
            <a:extLst>
              <a:ext uri="{FF2B5EF4-FFF2-40B4-BE49-F238E27FC236}">
                <a16:creationId xmlns:a16="http://schemas.microsoft.com/office/drawing/2014/main" id="{CA9F5277-EEF9-9C87-D038-519018A83F67}"/>
              </a:ext>
            </a:extLst>
          </p:cNvPr>
          <p:cNvSpPr/>
          <p:nvPr/>
        </p:nvSpPr>
        <p:spPr>
          <a:xfrm>
            <a:off x="6708732" y="2856186"/>
            <a:ext cx="2393731" cy="114562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ダッシュボード</a:t>
            </a:r>
            <a:r>
              <a:rPr lang="en-US" altLang="ja-JP" dirty="0"/>
              <a:t>.</a:t>
            </a:r>
            <a:r>
              <a:rPr lang="en-US" altLang="ja-JP" dirty="0" err="1"/>
              <a:t>php</a:t>
            </a:r>
            <a:endParaRPr kumimoji="1" lang="ja-JP" altLang="en-US" dirty="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27F9E0AF-43D0-20FA-2E09-0046FD13E46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5200106" y="2486845"/>
            <a:ext cx="2705492" cy="3693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CBF39CA-068E-3C51-3544-70F89E12D0F1}"/>
              </a:ext>
            </a:extLst>
          </p:cNvPr>
          <p:cNvSpPr txBox="1"/>
          <p:nvPr/>
        </p:nvSpPr>
        <p:spPr>
          <a:xfrm>
            <a:off x="5919025" y="2162318"/>
            <a:ext cx="367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SHIMADA</a:t>
            </a:r>
            <a:r>
              <a:rPr kumimoji="1" lang="ja-JP" altLang="en-US" dirty="0"/>
              <a:t>の内容を表示すればいい</a:t>
            </a:r>
            <a:endParaRPr kumimoji="1" lang="en-US" altLang="ja-JP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C9E095B-9F42-6C01-46C7-5F166995951C}"/>
              </a:ext>
            </a:extLst>
          </p:cNvPr>
          <p:cNvSpPr txBox="1"/>
          <p:nvPr/>
        </p:nvSpPr>
        <p:spPr>
          <a:xfrm>
            <a:off x="5927284" y="4377771"/>
            <a:ext cx="5126050" cy="1341656"/>
          </a:xfrm>
          <a:prstGeom prst="wedgeEllipseCallout">
            <a:avLst>
              <a:gd name="adj1" fmla="val -55454"/>
              <a:gd name="adj2" fmla="val -71877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サーバがクライアントのことを覚えててくれる</a:t>
            </a:r>
            <a:endParaRPr kumimoji="1" lang="ja-JP" altLang="en-US" sz="2800" dirty="0"/>
          </a:p>
        </p:txBody>
      </p:sp>
      <p:pic>
        <p:nvPicPr>
          <p:cNvPr id="2050" name="Picture 2" descr="賢いプログラムのキャラクター">
            <a:extLst>
              <a:ext uri="{FF2B5EF4-FFF2-40B4-BE49-F238E27FC236}">
                <a16:creationId xmlns:a16="http://schemas.microsoft.com/office/drawing/2014/main" id="{CD7FBD3D-53C5-EA4E-1AC5-86E47F0D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72" y="2424454"/>
            <a:ext cx="2153287" cy="21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91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AFC227-0C5C-D3E5-401E-4145BF82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</a:t>
            </a:r>
            <a:r>
              <a:rPr kumimoji="1" lang="en-US" altLang="ja-JP" dirty="0"/>
              <a:t>Session</a:t>
            </a:r>
            <a:r>
              <a:rPr kumimoji="1" lang="ja-JP" altLang="en-US" dirty="0"/>
              <a:t>を使うのか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DD2933-7AF5-FA4B-E3F1-0581052D0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951537"/>
          </a:xfrm>
        </p:spPr>
        <p:txBody>
          <a:bodyPr/>
          <a:lstStyle/>
          <a:p>
            <a:r>
              <a:rPr kumimoji="1" lang="ja-JP" altLang="en-US" dirty="0"/>
              <a:t>クライアントで保持していると改ざんし放題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AA7C6F6-3214-7889-F913-E57899BE0FB3}"/>
              </a:ext>
            </a:extLst>
          </p:cNvPr>
          <p:cNvCxnSpPr>
            <a:cxnSpLocks/>
          </p:cNvCxnSpPr>
          <p:nvPr/>
        </p:nvCxnSpPr>
        <p:spPr>
          <a:xfrm flipV="1">
            <a:off x="6494881" y="3073094"/>
            <a:ext cx="1877803" cy="9403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A4E247D-67D8-CC1F-57C4-992FE593C5D5}"/>
              </a:ext>
            </a:extLst>
          </p:cNvPr>
          <p:cNvGrpSpPr/>
          <p:nvPr/>
        </p:nvGrpSpPr>
        <p:grpSpPr>
          <a:xfrm>
            <a:off x="1159686" y="2028497"/>
            <a:ext cx="1813956" cy="2045526"/>
            <a:chOff x="1201728" y="2387948"/>
            <a:chExt cx="1813956" cy="2045526"/>
          </a:xfrm>
        </p:grpSpPr>
        <p:pic>
          <p:nvPicPr>
            <p:cNvPr id="13" name="グラフィックス 12" descr="ユーザー 枠線">
              <a:extLst>
                <a:ext uri="{FF2B5EF4-FFF2-40B4-BE49-F238E27FC236}">
                  <a16:creationId xmlns:a16="http://schemas.microsoft.com/office/drawing/2014/main" id="{155B9512-023B-D2B1-5D7E-003D190E10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4356C04-1B2B-02FC-74DA-C9CCEBDDD469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SHIMADA</a:t>
              </a:r>
              <a:endParaRPr kumimoji="1" lang="ja-JP" altLang="en-US" dirty="0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45138300-0943-B198-F0B5-34F0D0C7D51E}"/>
              </a:ext>
            </a:extLst>
          </p:cNvPr>
          <p:cNvGrpSpPr/>
          <p:nvPr/>
        </p:nvGrpSpPr>
        <p:grpSpPr>
          <a:xfrm>
            <a:off x="8473558" y="1843831"/>
            <a:ext cx="1813956" cy="1986504"/>
            <a:chOff x="4969173" y="2181960"/>
            <a:chExt cx="2258291" cy="2464279"/>
          </a:xfrm>
        </p:grpSpPr>
        <p:pic>
          <p:nvPicPr>
            <p:cNvPr id="16" name="グラフィックス 15" descr="データベース 枠線">
              <a:extLst>
                <a:ext uri="{FF2B5EF4-FFF2-40B4-BE49-F238E27FC236}">
                  <a16:creationId xmlns:a16="http://schemas.microsoft.com/office/drawing/2014/main" id="{0172DCC0-1FFC-2D9E-4609-09720B959C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1D7A9AB0-378E-8266-9F4E-BA7674DDD250}"/>
                </a:ext>
              </a:extLst>
            </p:cNvPr>
            <p:cNvSpPr txBox="1"/>
            <p:nvPr/>
          </p:nvSpPr>
          <p:spPr>
            <a:xfrm>
              <a:off x="5575164" y="2181960"/>
              <a:ext cx="1275469" cy="45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sp>
        <p:nvSpPr>
          <p:cNvPr id="18" name="フローチャート: 書類 17">
            <a:extLst>
              <a:ext uri="{FF2B5EF4-FFF2-40B4-BE49-F238E27FC236}">
                <a16:creationId xmlns:a16="http://schemas.microsoft.com/office/drawing/2014/main" id="{347FFB1F-1534-16B6-3A6D-FE0051994B86}"/>
              </a:ext>
            </a:extLst>
          </p:cNvPr>
          <p:cNvSpPr/>
          <p:nvPr/>
        </p:nvSpPr>
        <p:spPr>
          <a:xfrm>
            <a:off x="3049328" y="2484951"/>
            <a:ext cx="3121572" cy="136418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ユーザ名は</a:t>
            </a:r>
            <a:r>
              <a:rPr kumimoji="1" lang="en-US" altLang="ja-JP" dirty="0"/>
              <a:t>SHIMADA</a:t>
            </a:r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身長は</a:t>
            </a:r>
            <a:r>
              <a:rPr kumimoji="1" lang="en-US" altLang="ja-JP" dirty="0"/>
              <a:t>170cm</a:t>
            </a:r>
            <a:r>
              <a:rPr kumimoji="1" lang="ja-JP" altLang="en-US" dirty="0"/>
              <a:t>以下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056601B-E7B0-7A53-B3AE-3CEDE5A76EDE}"/>
              </a:ext>
            </a:extLst>
          </p:cNvPr>
          <p:cNvGrpSpPr/>
          <p:nvPr/>
        </p:nvGrpSpPr>
        <p:grpSpPr>
          <a:xfrm>
            <a:off x="1235372" y="4305593"/>
            <a:ext cx="1813956" cy="2045526"/>
            <a:chOff x="1201728" y="2387948"/>
            <a:chExt cx="1813956" cy="2045526"/>
          </a:xfrm>
        </p:grpSpPr>
        <p:pic>
          <p:nvPicPr>
            <p:cNvPr id="20" name="グラフィックス 19" descr="ユーザー 枠線">
              <a:extLst>
                <a:ext uri="{FF2B5EF4-FFF2-40B4-BE49-F238E27FC236}">
                  <a16:creationId xmlns:a16="http://schemas.microsoft.com/office/drawing/2014/main" id="{2ED43B32-5591-3530-9163-EC8181145A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F811A64-7EBE-DDCC-03BF-9034CFC8FE7E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OTONARI</a:t>
              </a:r>
              <a:endParaRPr kumimoji="1" lang="ja-JP" altLang="en-US" dirty="0"/>
            </a:p>
          </p:txBody>
        </p:sp>
      </p:grpSp>
      <p:sp>
        <p:nvSpPr>
          <p:cNvPr id="22" name="フローチャート: 書類 21">
            <a:extLst>
              <a:ext uri="{FF2B5EF4-FFF2-40B4-BE49-F238E27FC236}">
                <a16:creationId xmlns:a16="http://schemas.microsoft.com/office/drawing/2014/main" id="{1BF00FDE-45FE-DA90-6B25-4AA83BB93669}"/>
              </a:ext>
            </a:extLst>
          </p:cNvPr>
          <p:cNvSpPr/>
          <p:nvPr/>
        </p:nvSpPr>
        <p:spPr>
          <a:xfrm>
            <a:off x="3049328" y="4762047"/>
            <a:ext cx="3121572" cy="136418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ユーザ名は</a:t>
            </a:r>
            <a:r>
              <a:rPr kumimoji="1" lang="en-US" altLang="ja-JP" dirty="0">
                <a:solidFill>
                  <a:srgbClr val="FF0000"/>
                </a:solidFill>
              </a:rPr>
              <a:t>SHIMADA</a:t>
            </a:r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身長は</a:t>
            </a:r>
            <a:r>
              <a:rPr kumimoji="1" lang="en-US" altLang="ja-JP" dirty="0">
                <a:solidFill>
                  <a:srgbClr val="FF0000"/>
                </a:solidFill>
              </a:rPr>
              <a:t>10cm</a:t>
            </a:r>
            <a:r>
              <a:rPr kumimoji="1" lang="ja-JP" altLang="en-US" dirty="0">
                <a:solidFill>
                  <a:srgbClr val="FF0000"/>
                </a:solidFill>
              </a:rPr>
              <a:t>以下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384A9C4-35AD-06CC-9345-7B2E1F7F326C}"/>
              </a:ext>
            </a:extLst>
          </p:cNvPr>
          <p:cNvCxnSpPr>
            <a:cxnSpLocks/>
          </p:cNvCxnSpPr>
          <p:nvPr/>
        </p:nvCxnSpPr>
        <p:spPr>
          <a:xfrm flipV="1">
            <a:off x="6494881" y="3065024"/>
            <a:ext cx="1877803" cy="2085045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落ち込むプログラムのキャラクター">
            <a:extLst>
              <a:ext uri="{FF2B5EF4-FFF2-40B4-BE49-F238E27FC236}">
                <a16:creationId xmlns:a16="http://schemas.microsoft.com/office/drawing/2014/main" id="{FD927707-AC10-4622-54DC-67D3AAD91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362" y="2213163"/>
            <a:ext cx="2223295" cy="222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吹き出し: 円形 26">
            <a:extLst>
              <a:ext uri="{FF2B5EF4-FFF2-40B4-BE49-F238E27FC236}">
                <a16:creationId xmlns:a16="http://schemas.microsoft.com/office/drawing/2014/main" id="{0BB9D0E0-6052-B21C-6D49-446B4365EA06}"/>
              </a:ext>
            </a:extLst>
          </p:cNvPr>
          <p:cNvSpPr/>
          <p:nvPr/>
        </p:nvSpPr>
        <p:spPr>
          <a:xfrm>
            <a:off x="8960315" y="4845269"/>
            <a:ext cx="2933607" cy="1734207"/>
          </a:xfrm>
          <a:prstGeom prst="wedgeEllipseCallout">
            <a:avLst>
              <a:gd name="adj1" fmla="val -21272"/>
              <a:gd name="adj2" fmla="val -744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SHIMADA</a:t>
            </a:r>
            <a:r>
              <a:rPr lang="ja-JP" altLang="en-US" dirty="0"/>
              <a:t>って</a:t>
            </a:r>
            <a:br>
              <a:rPr lang="en-US" altLang="ja-JP" dirty="0"/>
            </a:br>
            <a:r>
              <a:rPr lang="ja-JP" altLang="en-US" dirty="0"/>
              <a:t>身長</a:t>
            </a:r>
            <a:r>
              <a:rPr lang="en-US" altLang="ja-JP" dirty="0"/>
              <a:t>10cm</a:t>
            </a:r>
            <a:r>
              <a:rPr lang="ja-JP" altLang="en-US" dirty="0"/>
              <a:t>以下なのプププ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98154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07C29-447B-A9AD-8AA2-4C962419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6A788E-C726-A096-109D-28D9DEA4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</a:t>
            </a:r>
            <a:r>
              <a:rPr kumimoji="1" lang="en-US" altLang="ja-JP" dirty="0"/>
              <a:t>Session</a:t>
            </a:r>
            <a:r>
              <a:rPr kumimoji="1" lang="ja-JP" altLang="en-US" dirty="0"/>
              <a:t>を使うのか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FB5EBA-9E32-BD5B-7F45-4FD02F150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951537"/>
          </a:xfrm>
        </p:spPr>
        <p:txBody>
          <a:bodyPr/>
          <a:lstStyle/>
          <a:p>
            <a:r>
              <a:rPr kumimoji="1" lang="ja-JP" altLang="en-US" dirty="0"/>
              <a:t>クライアントで保持していると改ざんし放題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3569AE7-642D-1AD0-D3EB-60B7E21C2DE6}"/>
              </a:ext>
            </a:extLst>
          </p:cNvPr>
          <p:cNvCxnSpPr>
            <a:cxnSpLocks/>
          </p:cNvCxnSpPr>
          <p:nvPr/>
        </p:nvCxnSpPr>
        <p:spPr>
          <a:xfrm flipV="1">
            <a:off x="3274108" y="3489330"/>
            <a:ext cx="1877803" cy="9403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2409E83-F497-8D56-D74E-4C17B15B1A53}"/>
              </a:ext>
            </a:extLst>
          </p:cNvPr>
          <p:cNvGrpSpPr/>
          <p:nvPr/>
        </p:nvGrpSpPr>
        <p:grpSpPr>
          <a:xfrm>
            <a:off x="1159686" y="2028497"/>
            <a:ext cx="1813956" cy="2045526"/>
            <a:chOff x="1201728" y="2387948"/>
            <a:chExt cx="1813956" cy="2045526"/>
          </a:xfrm>
        </p:grpSpPr>
        <p:pic>
          <p:nvPicPr>
            <p:cNvPr id="13" name="グラフィックス 12" descr="ユーザー 枠線">
              <a:extLst>
                <a:ext uri="{FF2B5EF4-FFF2-40B4-BE49-F238E27FC236}">
                  <a16:creationId xmlns:a16="http://schemas.microsoft.com/office/drawing/2014/main" id="{AC7B70D4-923B-4160-E481-BCEF578194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2C9776AB-2EA9-96E9-70BF-3920338F458D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SHIMADA</a:t>
              </a:r>
              <a:endParaRPr kumimoji="1" lang="ja-JP" altLang="en-US" dirty="0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3764CBB4-1AE8-7116-4B32-CEDF0844A0C1}"/>
              </a:ext>
            </a:extLst>
          </p:cNvPr>
          <p:cNvGrpSpPr/>
          <p:nvPr/>
        </p:nvGrpSpPr>
        <p:grpSpPr>
          <a:xfrm>
            <a:off x="5252785" y="2260067"/>
            <a:ext cx="1813956" cy="1986504"/>
            <a:chOff x="4969173" y="2181960"/>
            <a:chExt cx="2258291" cy="2464279"/>
          </a:xfrm>
        </p:grpSpPr>
        <p:pic>
          <p:nvPicPr>
            <p:cNvPr id="16" name="グラフィックス 15" descr="データベース 枠線">
              <a:extLst>
                <a:ext uri="{FF2B5EF4-FFF2-40B4-BE49-F238E27FC236}">
                  <a16:creationId xmlns:a16="http://schemas.microsoft.com/office/drawing/2014/main" id="{88A9C8F9-2964-D296-D841-C8B7BB452D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1593285E-AFBE-350E-D197-DE4B21C7B8F2}"/>
                </a:ext>
              </a:extLst>
            </p:cNvPr>
            <p:cNvSpPr txBox="1"/>
            <p:nvPr/>
          </p:nvSpPr>
          <p:spPr>
            <a:xfrm>
              <a:off x="5575164" y="2181960"/>
              <a:ext cx="1275469" cy="45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sp>
        <p:nvSpPr>
          <p:cNvPr id="18" name="フローチャート: 書類 17">
            <a:extLst>
              <a:ext uri="{FF2B5EF4-FFF2-40B4-BE49-F238E27FC236}">
                <a16:creationId xmlns:a16="http://schemas.microsoft.com/office/drawing/2014/main" id="{7F525881-2BF5-016B-46A0-8E22A3DC97F4}"/>
              </a:ext>
            </a:extLst>
          </p:cNvPr>
          <p:cNvSpPr/>
          <p:nvPr/>
        </p:nvSpPr>
        <p:spPr>
          <a:xfrm>
            <a:off x="7066741" y="1918642"/>
            <a:ext cx="3121572" cy="136418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ユーザ名は</a:t>
            </a:r>
            <a:r>
              <a:rPr kumimoji="1" lang="en-US" altLang="ja-JP" dirty="0"/>
              <a:t>SHIMADA</a:t>
            </a:r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身長は</a:t>
            </a:r>
            <a:r>
              <a:rPr kumimoji="1" lang="en-US" altLang="ja-JP" dirty="0"/>
              <a:t>170cm</a:t>
            </a:r>
            <a:r>
              <a:rPr kumimoji="1" lang="ja-JP" altLang="en-US" dirty="0"/>
              <a:t>以下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041CAFA-A287-D1A7-6F87-04886E934C89}"/>
              </a:ext>
            </a:extLst>
          </p:cNvPr>
          <p:cNvGrpSpPr/>
          <p:nvPr/>
        </p:nvGrpSpPr>
        <p:grpSpPr>
          <a:xfrm>
            <a:off x="1235372" y="4305593"/>
            <a:ext cx="1813956" cy="2045526"/>
            <a:chOff x="1201728" y="2387948"/>
            <a:chExt cx="1813956" cy="2045526"/>
          </a:xfrm>
        </p:grpSpPr>
        <p:pic>
          <p:nvPicPr>
            <p:cNvPr id="20" name="グラフィックス 19" descr="ユーザー 枠線">
              <a:extLst>
                <a:ext uri="{FF2B5EF4-FFF2-40B4-BE49-F238E27FC236}">
                  <a16:creationId xmlns:a16="http://schemas.microsoft.com/office/drawing/2014/main" id="{05D0A0F3-12F1-034E-3A00-A7E54BF4D9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F15D3557-5772-647C-ADF9-B11FFFD7A94E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OTONARI</a:t>
              </a:r>
              <a:endParaRPr kumimoji="1" lang="ja-JP" altLang="en-US" dirty="0"/>
            </a:p>
          </p:txBody>
        </p:sp>
      </p:grpSp>
      <p:sp>
        <p:nvSpPr>
          <p:cNvPr id="22" name="フローチャート: 書類 21">
            <a:extLst>
              <a:ext uri="{FF2B5EF4-FFF2-40B4-BE49-F238E27FC236}">
                <a16:creationId xmlns:a16="http://schemas.microsoft.com/office/drawing/2014/main" id="{DD1DCB56-9DCA-8DB7-C39B-4E26AD164915}"/>
              </a:ext>
            </a:extLst>
          </p:cNvPr>
          <p:cNvSpPr/>
          <p:nvPr/>
        </p:nvSpPr>
        <p:spPr>
          <a:xfrm>
            <a:off x="7066741" y="4537163"/>
            <a:ext cx="3121572" cy="136418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ユーザ名は</a:t>
            </a:r>
            <a:r>
              <a:rPr kumimoji="1" lang="en-US" altLang="ja-JP" dirty="0"/>
              <a:t>OTONARI</a:t>
            </a:r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身長は</a:t>
            </a:r>
            <a:r>
              <a:rPr lang="en-US" altLang="ja-JP" dirty="0"/>
              <a:t>17</a:t>
            </a:r>
            <a:r>
              <a:rPr kumimoji="1" lang="en-US" altLang="ja-JP" dirty="0"/>
              <a:t>0cm</a:t>
            </a:r>
            <a:r>
              <a:rPr lang="ja-JP" altLang="en-US" dirty="0"/>
              <a:t>以上</a:t>
            </a:r>
            <a:endParaRPr kumimoji="1" lang="ja-JP" altLang="en-US" dirty="0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BD9389A-ED73-F8B4-7A0E-32CF8D85E61B}"/>
              </a:ext>
            </a:extLst>
          </p:cNvPr>
          <p:cNvCxnSpPr>
            <a:cxnSpLocks/>
          </p:cNvCxnSpPr>
          <p:nvPr/>
        </p:nvCxnSpPr>
        <p:spPr>
          <a:xfrm flipV="1">
            <a:off x="3049328" y="3481260"/>
            <a:ext cx="2102583" cy="1962881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76A8F20-773B-A913-14E4-AADEDF9E0F27}"/>
              </a:ext>
            </a:extLst>
          </p:cNvPr>
          <p:cNvCxnSpPr>
            <a:cxnSpLocks/>
          </p:cNvCxnSpPr>
          <p:nvPr/>
        </p:nvCxnSpPr>
        <p:spPr>
          <a:xfrm flipV="1">
            <a:off x="3049328" y="5367312"/>
            <a:ext cx="2203457" cy="1989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乗算記号 7">
            <a:extLst>
              <a:ext uri="{FF2B5EF4-FFF2-40B4-BE49-F238E27FC236}">
                <a16:creationId xmlns:a16="http://schemas.microsoft.com/office/drawing/2014/main" id="{148B1DE4-F473-98F0-2DCC-3A921D39996A}"/>
              </a:ext>
            </a:extLst>
          </p:cNvPr>
          <p:cNvSpPr/>
          <p:nvPr/>
        </p:nvSpPr>
        <p:spPr>
          <a:xfrm>
            <a:off x="4863284" y="4685218"/>
            <a:ext cx="1230605" cy="1364188"/>
          </a:xfrm>
          <a:prstGeom prst="mathMultiply">
            <a:avLst>
              <a:gd name="adj1" fmla="val 9855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8CF2A72-5E02-C05A-50D8-6B6347B3CB12}"/>
              </a:ext>
            </a:extLst>
          </p:cNvPr>
          <p:cNvSpPr txBox="1"/>
          <p:nvPr/>
        </p:nvSpPr>
        <p:spPr>
          <a:xfrm>
            <a:off x="3607943" y="5916556"/>
            <a:ext cx="3289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サーバーサイドの改竄は不可能</a:t>
            </a:r>
          </a:p>
        </p:txBody>
      </p:sp>
      <p:pic>
        <p:nvPicPr>
          <p:cNvPr id="24" name="Picture 2" descr="賢いプログラムのキャラクター">
            <a:extLst>
              <a:ext uri="{FF2B5EF4-FFF2-40B4-BE49-F238E27FC236}">
                <a16:creationId xmlns:a16="http://schemas.microsoft.com/office/drawing/2014/main" id="{6A5521A0-90AB-3E2A-FA37-8AB0322B7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154" y="3132833"/>
            <a:ext cx="2153287" cy="21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190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C3CBC2-DA43-A45E-46A7-82304C52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PHP</a:t>
            </a:r>
            <a:r>
              <a:rPr kumimoji="1" lang="ja-JP" altLang="en-US" dirty="0"/>
              <a:t>の復習</a:t>
            </a:r>
            <a:br>
              <a:rPr kumimoji="1" lang="en-US" altLang="ja-JP" dirty="0"/>
            </a:br>
            <a:r>
              <a:rPr lang="en-US" altLang="ja-JP" dirty="0"/>
              <a:t>CSRF</a:t>
            </a:r>
            <a:r>
              <a:rPr lang="ja-JP" altLang="en-US" dirty="0"/>
              <a:t>トークン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2414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15E6-8E9E-C206-4FBF-D29DCA54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EEAC24-98F6-DDD8-A1E9-F9D67F8F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CSRF</a:t>
            </a:r>
            <a:r>
              <a:rPr lang="ja-JP" altLang="en-US" dirty="0"/>
              <a:t>トークンとは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50EB3F-CB92-D120-CE23-812333053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CSRF(Cross Site Request </a:t>
            </a:r>
            <a:r>
              <a:rPr lang="en-US" altLang="ja-JP" dirty="0"/>
              <a:t>Forgeries</a:t>
            </a:r>
            <a:r>
              <a:rPr kumimoji="1" lang="en-US" altLang="ja-JP" dirty="0"/>
              <a:t>)</a:t>
            </a:r>
            <a:r>
              <a:rPr kumimoji="1" lang="ja-JP" altLang="en-US" dirty="0"/>
              <a:t>トークン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sz="3200" dirty="0"/>
              <a:t>正規のフォームから送られているかを検証する</a:t>
            </a:r>
            <a:endParaRPr lang="en-US" altLang="ja-JP" sz="3200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B82FEE-C48C-7A10-65CD-06B174D62229}"/>
              </a:ext>
            </a:extLst>
          </p:cNvPr>
          <p:cNvSpPr/>
          <p:nvPr/>
        </p:nvSpPr>
        <p:spPr>
          <a:xfrm>
            <a:off x="9794251" y="2952886"/>
            <a:ext cx="2102069" cy="725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怪しいサイト</a:t>
            </a:r>
            <a:r>
              <a:rPr lang="en-US" altLang="ja-JP" dirty="0"/>
              <a:t>.com</a:t>
            </a:r>
            <a:endParaRPr kumimoji="1" lang="ja-JP" altLang="en-US" dirty="0"/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10D3AEE0-1C31-629E-C9A4-C5107D4F4A6F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698124" y="3678100"/>
            <a:ext cx="6147162" cy="2154079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フローチャート: 書類 17">
            <a:extLst>
              <a:ext uri="{FF2B5EF4-FFF2-40B4-BE49-F238E27FC236}">
                <a16:creationId xmlns:a16="http://schemas.microsoft.com/office/drawing/2014/main" id="{3C442B95-3798-8148-3DA8-216EA90241D7}"/>
              </a:ext>
            </a:extLst>
          </p:cNvPr>
          <p:cNvSpPr/>
          <p:nvPr/>
        </p:nvSpPr>
        <p:spPr>
          <a:xfrm>
            <a:off x="4698124" y="4995303"/>
            <a:ext cx="2448911" cy="725214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youtube</a:t>
            </a:r>
            <a:r>
              <a:rPr kumimoji="1" lang="ja-JP" altLang="en-US" dirty="0"/>
              <a:t>のセッション</a:t>
            </a:r>
            <a:endParaRPr kumimoji="1" lang="en-US" altLang="ja-JP" dirty="0"/>
          </a:p>
          <a:p>
            <a:pPr algn="ctr"/>
            <a:r>
              <a:rPr kumimoji="1" lang="en-US" altLang="ja-JP" dirty="0" err="1"/>
              <a:t>pxxxhub</a:t>
            </a:r>
            <a:r>
              <a:rPr lang="ja-JP" altLang="en-US" dirty="0"/>
              <a:t>のセッション</a:t>
            </a:r>
            <a:endParaRPr kumimoji="1" lang="ja-JP" altLang="en-US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4F12B990-C136-8DDA-3BF6-9C25DB4A339A}"/>
              </a:ext>
            </a:extLst>
          </p:cNvPr>
          <p:cNvGrpSpPr/>
          <p:nvPr/>
        </p:nvGrpSpPr>
        <p:grpSpPr>
          <a:xfrm>
            <a:off x="3229304" y="4734369"/>
            <a:ext cx="1813956" cy="2045526"/>
            <a:chOff x="1201728" y="2387948"/>
            <a:chExt cx="1813956" cy="2045526"/>
          </a:xfrm>
        </p:grpSpPr>
        <p:pic>
          <p:nvPicPr>
            <p:cNvPr id="23" name="グラフィックス 22" descr="ユーザー 枠線">
              <a:extLst>
                <a:ext uri="{FF2B5EF4-FFF2-40B4-BE49-F238E27FC236}">
                  <a16:creationId xmlns:a16="http://schemas.microsoft.com/office/drawing/2014/main" id="{6ED9383F-020C-9F78-28DD-58123F127B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C6AE49A9-DA37-7357-9031-25860303A504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SHIMADA</a:t>
              </a:r>
              <a:endParaRPr kumimoji="1" lang="ja-JP" altLang="en-US" dirty="0"/>
            </a:p>
          </p:txBody>
        </p:sp>
      </p:grpSp>
      <p:sp>
        <p:nvSpPr>
          <p:cNvPr id="26" name="矢印: 上 25">
            <a:extLst>
              <a:ext uri="{FF2B5EF4-FFF2-40B4-BE49-F238E27FC236}">
                <a16:creationId xmlns:a16="http://schemas.microsoft.com/office/drawing/2014/main" id="{AA7E51F0-7589-4C9A-7D51-BABE2F75715C}"/>
              </a:ext>
            </a:extLst>
          </p:cNvPr>
          <p:cNvSpPr/>
          <p:nvPr/>
        </p:nvSpPr>
        <p:spPr>
          <a:xfrm rot="3571519">
            <a:off x="7673572" y="4123081"/>
            <a:ext cx="270719" cy="128731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E3061B7-6D91-0E8A-0443-F312ECDEC3F4}"/>
              </a:ext>
            </a:extLst>
          </p:cNvPr>
          <p:cNvSpPr/>
          <p:nvPr/>
        </p:nvSpPr>
        <p:spPr>
          <a:xfrm>
            <a:off x="1427701" y="2973480"/>
            <a:ext cx="2102069" cy="725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youtube.com</a:t>
            </a:r>
            <a:endParaRPr kumimoji="1" lang="ja-JP" altLang="en-US" dirty="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E8562F21-E6CD-8DF4-10B7-5F6CB5746046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3529770" y="3315493"/>
            <a:ext cx="6264481" cy="2059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賢いプログラムのキャラクター">
            <a:extLst>
              <a:ext uri="{FF2B5EF4-FFF2-40B4-BE49-F238E27FC236}">
                <a16:creationId xmlns:a16="http://schemas.microsoft.com/office/drawing/2014/main" id="{31C891B4-3903-6C73-7DF3-4DD74B1BF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65256" y="3548973"/>
            <a:ext cx="1928095" cy="192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乗算記号 11">
            <a:extLst>
              <a:ext uri="{FF2B5EF4-FFF2-40B4-BE49-F238E27FC236}">
                <a16:creationId xmlns:a16="http://schemas.microsoft.com/office/drawing/2014/main" id="{78E0FE54-E0F2-BD42-778C-A92EE62F7B31}"/>
              </a:ext>
            </a:extLst>
          </p:cNvPr>
          <p:cNvSpPr/>
          <p:nvPr/>
        </p:nvSpPr>
        <p:spPr>
          <a:xfrm>
            <a:off x="4401234" y="2633399"/>
            <a:ext cx="1230605" cy="1364188"/>
          </a:xfrm>
          <a:prstGeom prst="mathMultiply">
            <a:avLst>
              <a:gd name="adj1" fmla="val 9855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132B1E1-6A13-ED69-BA60-3CC39A0B7D20}"/>
              </a:ext>
            </a:extLst>
          </p:cNvPr>
          <p:cNvSpPr/>
          <p:nvPr/>
        </p:nvSpPr>
        <p:spPr>
          <a:xfrm>
            <a:off x="8432316" y="3626961"/>
            <a:ext cx="1870843" cy="725214"/>
          </a:xfrm>
          <a:prstGeom prst="round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動画無料視聴フォーム</a:t>
            </a:r>
            <a:endParaRPr kumimoji="1" lang="ja-JP" altLang="en-US" dirty="0"/>
          </a:p>
        </p:txBody>
      </p:sp>
      <p:sp>
        <p:nvSpPr>
          <p:cNvPr id="25" name="吹き出し: 円形 24">
            <a:extLst>
              <a:ext uri="{FF2B5EF4-FFF2-40B4-BE49-F238E27FC236}">
                <a16:creationId xmlns:a16="http://schemas.microsoft.com/office/drawing/2014/main" id="{B1373476-4171-F22A-A60A-148352F5A516}"/>
              </a:ext>
            </a:extLst>
          </p:cNvPr>
          <p:cNvSpPr/>
          <p:nvPr/>
        </p:nvSpPr>
        <p:spPr>
          <a:xfrm>
            <a:off x="6742778" y="2501166"/>
            <a:ext cx="1870843" cy="1189863"/>
          </a:xfrm>
          <a:prstGeom prst="wedgeEllipseCallout">
            <a:avLst>
              <a:gd name="adj1" fmla="val 48830"/>
              <a:gd name="adj2" fmla="val 7221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パスワード変えたい</a:t>
            </a:r>
            <a:r>
              <a:rPr lang="en-US" altLang="ja-JP" dirty="0"/>
              <a:t>!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7281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D378B-726E-78F2-BCCD-2F12BCCC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CSRF</a:t>
            </a:r>
            <a:r>
              <a:rPr kumimoji="1" lang="ja-JP" altLang="en-US" dirty="0"/>
              <a:t>トークン使い方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5FE9A1-AECE-EB91-204A-C1D0736F1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1"/>
            <a:ext cx="10515600" cy="1076960"/>
          </a:xfrm>
        </p:spPr>
        <p:txBody>
          <a:bodyPr/>
          <a:lstStyle/>
          <a:p>
            <a:r>
              <a:rPr kumimoji="1" lang="ja-JP" altLang="en-US" dirty="0"/>
              <a:t>フォームにバックエンドで生成されたトークンを</a:t>
            </a:r>
            <a:br>
              <a:rPr kumimoji="1" lang="en-US" altLang="ja-JP" dirty="0"/>
            </a:br>
            <a:r>
              <a:rPr kumimoji="1" lang="ja-JP" altLang="en-US" dirty="0"/>
              <a:t>フォームに埋め込む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7B321E53-078A-22A5-3D71-EDA092C02767}"/>
              </a:ext>
            </a:extLst>
          </p:cNvPr>
          <p:cNvGrpSpPr/>
          <p:nvPr/>
        </p:nvGrpSpPr>
        <p:grpSpPr>
          <a:xfrm>
            <a:off x="838200" y="2153921"/>
            <a:ext cx="1813956" cy="2045526"/>
            <a:chOff x="1201728" y="2387948"/>
            <a:chExt cx="1813956" cy="2045526"/>
          </a:xfrm>
        </p:grpSpPr>
        <p:pic>
          <p:nvPicPr>
            <p:cNvPr id="5" name="グラフィックス 4" descr="ユーザー 枠線">
              <a:extLst>
                <a:ext uri="{FF2B5EF4-FFF2-40B4-BE49-F238E27FC236}">
                  <a16:creationId xmlns:a16="http://schemas.microsoft.com/office/drawing/2014/main" id="{C06F7BEB-18D7-9F56-D7E3-49FAC0E9B5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0CF400D-CF5E-3B6A-203A-C1BE59F9E78D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SHIMADA</a:t>
              </a:r>
              <a:endParaRPr kumimoji="1" lang="ja-JP" altLang="en-US" dirty="0"/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C3765C6-0991-EEC3-0E95-8FDC95C5119B}"/>
              </a:ext>
            </a:extLst>
          </p:cNvPr>
          <p:cNvGrpSpPr/>
          <p:nvPr/>
        </p:nvGrpSpPr>
        <p:grpSpPr>
          <a:xfrm>
            <a:off x="6678819" y="2153921"/>
            <a:ext cx="1813956" cy="1986504"/>
            <a:chOff x="4969173" y="2181960"/>
            <a:chExt cx="2258291" cy="2464279"/>
          </a:xfrm>
        </p:grpSpPr>
        <p:pic>
          <p:nvPicPr>
            <p:cNvPr id="8" name="グラフィックス 7" descr="データベース 枠線">
              <a:extLst>
                <a:ext uri="{FF2B5EF4-FFF2-40B4-BE49-F238E27FC236}">
                  <a16:creationId xmlns:a16="http://schemas.microsoft.com/office/drawing/2014/main" id="{F60A440D-D80E-DC11-BD88-9DF359CEED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0E81963-353C-8635-6CFF-F2DFB46E975F}"/>
                </a:ext>
              </a:extLst>
            </p:cNvPr>
            <p:cNvSpPr txBox="1"/>
            <p:nvPr/>
          </p:nvSpPr>
          <p:spPr>
            <a:xfrm>
              <a:off x="5575164" y="2181960"/>
              <a:ext cx="1275469" cy="45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sp>
        <p:nvSpPr>
          <p:cNvPr id="13" name="フローチャート: 書類 12">
            <a:extLst>
              <a:ext uri="{FF2B5EF4-FFF2-40B4-BE49-F238E27FC236}">
                <a16:creationId xmlns:a16="http://schemas.microsoft.com/office/drawing/2014/main" id="{F83CE7BB-F863-0F03-8644-BDB8DDEDF9F1}"/>
              </a:ext>
            </a:extLst>
          </p:cNvPr>
          <p:cNvSpPr/>
          <p:nvPr/>
        </p:nvSpPr>
        <p:spPr>
          <a:xfrm>
            <a:off x="8407400" y="2184402"/>
            <a:ext cx="1635760" cy="1676399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ユーザ名</a:t>
            </a:r>
            <a:r>
              <a:rPr kumimoji="1" lang="en-US" altLang="ja-JP" dirty="0"/>
              <a:t>SHIMADA</a:t>
            </a:r>
          </a:p>
          <a:p>
            <a:pPr algn="ctr"/>
            <a:endParaRPr lang="en-US" altLang="ja-JP" dirty="0"/>
          </a:p>
          <a:p>
            <a:pPr algn="ctr"/>
            <a:r>
              <a:rPr kumimoji="1" lang="en-US" altLang="ja-JP" dirty="0" err="1"/>
              <a:t>csrf_token</a:t>
            </a:r>
            <a:endParaRPr lang="en-US" altLang="ja-JP" dirty="0"/>
          </a:p>
          <a:p>
            <a:pPr algn="ctr"/>
            <a:r>
              <a:rPr kumimoji="1" lang="en-US" altLang="ja-JP" dirty="0" err="1"/>
              <a:t>Abcdedfhij</a:t>
            </a:r>
            <a:r>
              <a:rPr kumimoji="1" lang="en-US" altLang="ja-JP" dirty="0"/>
              <a:t>…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C7AF846-2044-EAD8-D6C0-372EDAFB3B8D}"/>
              </a:ext>
            </a:extLst>
          </p:cNvPr>
          <p:cNvCxnSpPr>
            <a:cxnSpLocks/>
          </p:cNvCxnSpPr>
          <p:nvPr/>
        </p:nvCxnSpPr>
        <p:spPr>
          <a:xfrm flipH="1">
            <a:off x="2479040" y="3230198"/>
            <a:ext cx="4199779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フローチャート: 書類 16">
            <a:extLst>
              <a:ext uri="{FF2B5EF4-FFF2-40B4-BE49-F238E27FC236}">
                <a16:creationId xmlns:a16="http://schemas.microsoft.com/office/drawing/2014/main" id="{DE5F7131-CC48-8151-BE60-36D8E658B01F}"/>
              </a:ext>
            </a:extLst>
          </p:cNvPr>
          <p:cNvSpPr/>
          <p:nvPr/>
        </p:nvSpPr>
        <p:spPr>
          <a:xfrm>
            <a:off x="2869468" y="3325129"/>
            <a:ext cx="1635760" cy="93630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csrf_token</a:t>
            </a:r>
            <a:endParaRPr lang="en-US" altLang="ja-JP" dirty="0"/>
          </a:p>
          <a:p>
            <a:pPr algn="ctr"/>
            <a:r>
              <a:rPr kumimoji="1" lang="en-US" altLang="ja-JP" dirty="0" err="1"/>
              <a:t>Abcdedfhij</a:t>
            </a:r>
            <a:r>
              <a:rPr kumimoji="1" lang="en-US" altLang="ja-JP" dirty="0"/>
              <a:t>…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3DFE330-4622-945D-2342-D5A0446107C4}"/>
              </a:ext>
            </a:extLst>
          </p:cNvPr>
          <p:cNvSpPr/>
          <p:nvPr/>
        </p:nvSpPr>
        <p:spPr>
          <a:xfrm>
            <a:off x="315332" y="4431017"/>
            <a:ext cx="2762774" cy="848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怪しくないフォーム</a:t>
            </a:r>
            <a:endParaRPr kumimoji="1" lang="en-US" altLang="ja-JP" dirty="0"/>
          </a:p>
          <a:p>
            <a:r>
              <a:rPr lang="ja-JP" altLang="en-US" dirty="0"/>
              <a:t>ユーザ名</a:t>
            </a:r>
            <a:r>
              <a:rPr lang="en-US" altLang="ja-JP" dirty="0"/>
              <a:t>:</a:t>
            </a:r>
          </a:p>
          <a:p>
            <a:r>
              <a:rPr lang="ja-JP" altLang="en-US" dirty="0"/>
              <a:t>パスワード</a:t>
            </a:r>
            <a:r>
              <a:rPr lang="en-US" altLang="ja-JP" dirty="0"/>
              <a:t>: 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F3C60DF-FE2C-676A-EDE7-2B42B1AB6E01}"/>
              </a:ext>
            </a:extLst>
          </p:cNvPr>
          <p:cNvCxnSpPr>
            <a:cxnSpLocks/>
            <a:stCxn id="17" idx="2"/>
            <a:endCxn id="18" idx="3"/>
          </p:cNvCxnSpPr>
          <p:nvPr/>
        </p:nvCxnSpPr>
        <p:spPr>
          <a:xfrm flipH="1">
            <a:off x="3078106" y="4199537"/>
            <a:ext cx="609242" cy="65585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637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01AB6-0075-6E0F-91FA-822E54044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2C4C93-C59A-AD75-D9D4-07B2EB46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CSRF</a:t>
            </a:r>
            <a:r>
              <a:rPr kumimoji="1" lang="ja-JP" altLang="en-US" dirty="0"/>
              <a:t>トークン使い方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15B6AA-430B-B9F4-9FE8-CCA2C319B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1"/>
            <a:ext cx="10515600" cy="1076960"/>
          </a:xfrm>
        </p:spPr>
        <p:txBody>
          <a:bodyPr/>
          <a:lstStyle/>
          <a:p>
            <a:r>
              <a:rPr kumimoji="1" lang="ja-JP" altLang="en-US" dirty="0"/>
              <a:t>検証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DF83708-5D42-A6B4-5BA8-27A26AD69B83}"/>
              </a:ext>
            </a:extLst>
          </p:cNvPr>
          <p:cNvGrpSpPr/>
          <p:nvPr/>
        </p:nvGrpSpPr>
        <p:grpSpPr>
          <a:xfrm>
            <a:off x="838200" y="2153921"/>
            <a:ext cx="1813956" cy="2045526"/>
            <a:chOff x="1201728" y="2387948"/>
            <a:chExt cx="1813956" cy="2045526"/>
          </a:xfrm>
        </p:grpSpPr>
        <p:pic>
          <p:nvPicPr>
            <p:cNvPr id="5" name="グラフィックス 4" descr="ユーザー 枠線">
              <a:extLst>
                <a:ext uri="{FF2B5EF4-FFF2-40B4-BE49-F238E27FC236}">
                  <a16:creationId xmlns:a16="http://schemas.microsoft.com/office/drawing/2014/main" id="{844C4B2E-9824-111C-6DF3-C1DC72A70A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01728" y="2619518"/>
              <a:ext cx="1813956" cy="1813956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FD3FDD3-6554-D78A-5F24-D42AD826E7CF}"/>
                </a:ext>
              </a:extLst>
            </p:cNvPr>
            <p:cNvSpPr txBox="1"/>
            <p:nvPr/>
          </p:nvSpPr>
          <p:spPr>
            <a:xfrm>
              <a:off x="1502194" y="2387948"/>
              <a:ext cx="1513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SHIMADA</a:t>
              </a:r>
              <a:endParaRPr kumimoji="1" lang="ja-JP" altLang="en-US" dirty="0"/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8F05537-09EB-D664-4201-C31251C96423}"/>
              </a:ext>
            </a:extLst>
          </p:cNvPr>
          <p:cNvGrpSpPr/>
          <p:nvPr/>
        </p:nvGrpSpPr>
        <p:grpSpPr>
          <a:xfrm>
            <a:off x="6678819" y="2153921"/>
            <a:ext cx="1813956" cy="1986504"/>
            <a:chOff x="4969173" y="2181960"/>
            <a:chExt cx="2258291" cy="2464279"/>
          </a:xfrm>
        </p:grpSpPr>
        <p:pic>
          <p:nvPicPr>
            <p:cNvPr id="8" name="グラフィックス 7" descr="データベース 枠線">
              <a:extLst>
                <a:ext uri="{FF2B5EF4-FFF2-40B4-BE49-F238E27FC236}">
                  <a16:creationId xmlns:a16="http://schemas.microsoft.com/office/drawing/2014/main" id="{D8A203C6-3C9D-4573-8391-012009C78E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9173" y="2387948"/>
              <a:ext cx="2258291" cy="2258291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58158AE-7B82-D6AD-E97D-44110645ED5D}"/>
                </a:ext>
              </a:extLst>
            </p:cNvPr>
            <p:cNvSpPr txBox="1"/>
            <p:nvPr/>
          </p:nvSpPr>
          <p:spPr>
            <a:xfrm>
              <a:off x="5575164" y="2181960"/>
              <a:ext cx="1275469" cy="45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サーバ</a:t>
              </a:r>
            </a:p>
          </p:txBody>
        </p:sp>
      </p:grpSp>
      <p:sp>
        <p:nvSpPr>
          <p:cNvPr id="13" name="フローチャート: 書類 12">
            <a:extLst>
              <a:ext uri="{FF2B5EF4-FFF2-40B4-BE49-F238E27FC236}">
                <a16:creationId xmlns:a16="http://schemas.microsoft.com/office/drawing/2014/main" id="{29043AF3-0BB8-7D7D-E812-6F6FEF829270}"/>
              </a:ext>
            </a:extLst>
          </p:cNvPr>
          <p:cNvSpPr/>
          <p:nvPr/>
        </p:nvSpPr>
        <p:spPr>
          <a:xfrm>
            <a:off x="8407400" y="2184402"/>
            <a:ext cx="1635760" cy="1676399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ユーザ名</a:t>
            </a:r>
            <a:r>
              <a:rPr kumimoji="1" lang="en-US" altLang="ja-JP" dirty="0"/>
              <a:t>SHIMADA</a:t>
            </a:r>
          </a:p>
          <a:p>
            <a:pPr algn="ctr"/>
            <a:endParaRPr lang="en-US" altLang="ja-JP" dirty="0"/>
          </a:p>
          <a:p>
            <a:pPr algn="ctr"/>
            <a:r>
              <a:rPr kumimoji="1" lang="en-US" altLang="ja-JP" dirty="0" err="1"/>
              <a:t>csrf_token</a:t>
            </a:r>
            <a:endParaRPr lang="en-US" altLang="ja-JP" dirty="0"/>
          </a:p>
          <a:p>
            <a:pPr algn="ctr"/>
            <a:r>
              <a:rPr kumimoji="1" lang="en-US" altLang="ja-JP" dirty="0" err="1"/>
              <a:t>Abcdedfhij</a:t>
            </a:r>
            <a:r>
              <a:rPr kumimoji="1" lang="en-US" altLang="ja-JP" dirty="0"/>
              <a:t>…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A5961E1E-C06B-19AB-D1F3-5955425A3BBD}"/>
              </a:ext>
            </a:extLst>
          </p:cNvPr>
          <p:cNvCxnSpPr>
            <a:cxnSpLocks/>
          </p:cNvCxnSpPr>
          <p:nvPr/>
        </p:nvCxnSpPr>
        <p:spPr>
          <a:xfrm>
            <a:off x="2509520" y="3230198"/>
            <a:ext cx="4169299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35BDA23-D4B0-8554-3C03-98718A991692}"/>
              </a:ext>
            </a:extLst>
          </p:cNvPr>
          <p:cNvSpPr/>
          <p:nvPr/>
        </p:nvSpPr>
        <p:spPr>
          <a:xfrm>
            <a:off x="4714613" y="4275995"/>
            <a:ext cx="2762774" cy="1238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/>
              <a:t>怪しくないフォーム</a:t>
            </a:r>
            <a:endParaRPr kumimoji="1" lang="en-US" altLang="ja-JP" dirty="0"/>
          </a:p>
          <a:p>
            <a:r>
              <a:rPr lang="ja-JP" altLang="en-US" dirty="0"/>
              <a:t>ユーザ名</a:t>
            </a:r>
            <a:r>
              <a:rPr lang="en-US" altLang="ja-JP" dirty="0"/>
              <a:t>:</a:t>
            </a:r>
          </a:p>
          <a:p>
            <a:r>
              <a:rPr lang="ja-JP" altLang="en-US" dirty="0"/>
              <a:t>パスワード</a:t>
            </a:r>
            <a:r>
              <a:rPr lang="en-US" altLang="ja-JP" dirty="0"/>
              <a:t>: </a:t>
            </a:r>
          </a:p>
          <a:p>
            <a:r>
              <a:rPr lang="en-US" altLang="ja-JP" dirty="0" err="1"/>
              <a:t>csrf_token</a:t>
            </a:r>
            <a:r>
              <a:rPr lang="en-US" altLang="ja-JP" dirty="0"/>
              <a:t>: </a:t>
            </a:r>
            <a:r>
              <a:rPr lang="en-US" altLang="ja-JP" dirty="0" err="1"/>
              <a:t>abcdefghij</a:t>
            </a:r>
            <a:r>
              <a:rPr lang="en-US" altLang="ja-JP" dirty="0"/>
              <a:t>…</a:t>
            </a:r>
          </a:p>
        </p:txBody>
      </p:sp>
      <p:sp>
        <p:nvSpPr>
          <p:cNvPr id="14" name="次の値と等しい 13">
            <a:extLst>
              <a:ext uri="{FF2B5EF4-FFF2-40B4-BE49-F238E27FC236}">
                <a16:creationId xmlns:a16="http://schemas.microsoft.com/office/drawing/2014/main" id="{B9EDB630-E702-D8CA-C1C6-AD1733DB140E}"/>
              </a:ext>
            </a:extLst>
          </p:cNvPr>
          <p:cNvSpPr/>
          <p:nvPr/>
        </p:nvSpPr>
        <p:spPr>
          <a:xfrm rot="18963413">
            <a:off x="7286806" y="3999592"/>
            <a:ext cx="1543192" cy="971993"/>
          </a:xfrm>
          <a:prstGeom prst="mathEqual">
            <a:avLst>
              <a:gd name="adj1" fmla="val 8886"/>
              <a:gd name="adj2" fmla="val 11760"/>
            </a:avLst>
          </a:prstGeom>
          <a:solidFill>
            <a:schemeClr val="bg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69D97B9A-3B83-4543-C0C7-BFBC5FC8FB54}"/>
              </a:ext>
            </a:extLst>
          </p:cNvPr>
          <p:cNvSpPr/>
          <p:nvPr/>
        </p:nvSpPr>
        <p:spPr>
          <a:xfrm>
            <a:off x="8058402" y="4975768"/>
            <a:ext cx="3790665" cy="1076960"/>
          </a:xfrm>
          <a:prstGeom prst="wedgeRoundRectCallout">
            <a:avLst>
              <a:gd name="adj1" fmla="val -40131"/>
              <a:gd name="adj2" fmla="val -8372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csrf</a:t>
            </a:r>
            <a:r>
              <a:rPr kumimoji="1" lang="ja-JP" altLang="en-US" dirty="0"/>
              <a:t>トークンが一致したということは正規のフォームから入れられたもの</a:t>
            </a:r>
          </a:p>
        </p:txBody>
      </p:sp>
    </p:spTree>
    <p:extLst>
      <p:ext uri="{BB962C8B-B14F-4D97-AF65-F5344CB8AC3E}">
        <p14:creationId xmlns:p14="http://schemas.microsoft.com/office/powerpoint/2010/main" val="2265366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CC2D29-2CB5-001C-46A6-4D44CB2B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使用ライブラリの説明</a:t>
            </a:r>
          </a:p>
        </p:txBody>
      </p:sp>
    </p:spTree>
    <p:extLst>
      <p:ext uri="{BB962C8B-B14F-4D97-AF65-F5344CB8AC3E}">
        <p14:creationId xmlns:p14="http://schemas.microsoft.com/office/powerpoint/2010/main" val="3081885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972E8C-A99A-D3FA-424D-93DB5076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注意事項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2C710B-6FBA-6885-1EFA-100A618EC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ライブラリを使用するために</a:t>
            </a:r>
            <a:r>
              <a:rPr kumimoji="1" lang="en-US" altLang="ja-JP" dirty="0"/>
              <a:t>Composer</a:t>
            </a:r>
            <a:r>
              <a:rPr kumimoji="1" lang="ja-JP" altLang="en-US" dirty="0"/>
              <a:t>の</a:t>
            </a:r>
            <a:r>
              <a:rPr kumimoji="1" lang="en-US" altLang="ja-JP" dirty="0" err="1"/>
              <a:t>autoload.php</a:t>
            </a:r>
            <a:r>
              <a:rPr kumimoji="1" lang="ja-JP" altLang="en-US" dirty="0"/>
              <a:t>を読み込んでください。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lang="en-US" altLang="ja-JP" dirty="0" err="1"/>
              <a:t>require_once</a:t>
            </a:r>
            <a:r>
              <a:rPr lang="en-US" altLang="ja-JP" dirty="0"/>
              <a:t> __DIR__ . ‘/path/to/</a:t>
            </a:r>
            <a:r>
              <a:rPr lang="en-US" altLang="ja-JP" dirty="0" err="1"/>
              <a:t>autoload.php</a:t>
            </a:r>
            <a:r>
              <a:rPr lang="en-US" altLang="ja-JP" dirty="0"/>
              <a:t>’;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＊環境はすべて整えてあります。</a:t>
            </a: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608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E109DB-EB19-FF3F-E8FF-BD5E91E3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Session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B8190A-7CDD-8CB9-E8A2-FC91B0896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lib\Session: </a:t>
            </a:r>
            <a:r>
              <a:rPr kumimoji="1" lang="ja-JP" altLang="en-US" dirty="0"/>
              <a:t>セッションを自動で管理する独自ライブラリ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sz="2000" dirty="0"/>
              <a:t>$s = new Session(); 		// Session</a:t>
            </a:r>
            <a:r>
              <a:rPr lang="ja-JP" altLang="en-US" sz="2000" dirty="0"/>
              <a:t>のインスタンス生成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>
                <a:solidFill>
                  <a:srgbClr val="FF0000"/>
                </a:solidFill>
              </a:rPr>
              <a:t>＊リメンバートークンを自動で検証します</a:t>
            </a:r>
            <a:endParaRPr lang="en-US" altLang="ja-JP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lang="en-US" altLang="ja-JP" sz="2000" dirty="0"/>
              <a:t>$s-&gt;</a:t>
            </a:r>
            <a:r>
              <a:rPr lang="en-US" altLang="ja-JP" sz="2000" dirty="0" err="1"/>
              <a:t>getCurrentUserId</a:t>
            </a:r>
            <a:r>
              <a:rPr lang="en-US" altLang="ja-JP" sz="2000" dirty="0"/>
              <a:t>(); 	// </a:t>
            </a:r>
            <a:r>
              <a:rPr lang="ja-JP" altLang="en-US" sz="2000" dirty="0"/>
              <a:t>ログイン中の</a:t>
            </a:r>
            <a:r>
              <a:rPr lang="en-US" altLang="ja-JP" sz="2000" dirty="0"/>
              <a:t>ID</a:t>
            </a:r>
            <a:r>
              <a:rPr lang="ja-JP" altLang="en-US" sz="2000" dirty="0"/>
              <a:t>を取得</a:t>
            </a:r>
            <a:r>
              <a:rPr lang="en-US" altLang="ja-JP" sz="2000" dirty="0"/>
              <a:t>(</a:t>
            </a:r>
            <a:r>
              <a:rPr lang="ja-JP" altLang="en-US" sz="2000" dirty="0"/>
              <a:t>数値</a:t>
            </a:r>
            <a:r>
              <a:rPr lang="en-US" altLang="ja-JP" sz="2000" dirty="0"/>
              <a:t>/null)</a:t>
            </a:r>
          </a:p>
          <a:p>
            <a:pPr marL="0" indent="0">
              <a:buNone/>
            </a:pPr>
            <a:r>
              <a:rPr lang="en-US" altLang="ja-JP" sz="2000" dirty="0"/>
              <a:t>$s-&gt;</a:t>
            </a:r>
            <a:r>
              <a:rPr lang="en-US" altLang="ja-JP" sz="2000" dirty="0" err="1"/>
              <a:t>isLoggedIn</a:t>
            </a:r>
            <a:r>
              <a:rPr lang="en-US" altLang="ja-JP" sz="2000" dirty="0"/>
              <a:t>(); 		// </a:t>
            </a:r>
            <a:r>
              <a:rPr lang="ja-JP" altLang="en-US" sz="2000" dirty="0"/>
              <a:t>現在ログイン中か判定(</a:t>
            </a:r>
            <a:r>
              <a:rPr lang="en-US" altLang="ja-JP" sz="2000" dirty="0"/>
              <a:t>true/false)</a:t>
            </a:r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lang="en-US" altLang="ja-JP" sz="2000" dirty="0"/>
              <a:t>$s-&gt;</a:t>
            </a:r>
            <a:r>
              <a:rPr lang="en-US" altLang="ja-JP" sz="2000" dirty="0" err="1"/>
              <a:t>tryLogin</a:t>
            </a:r>
            <a:r>
              <a:rPr lang="en-US" altLang="ja-JP" sz="2000" dirty="0"/>
              <a:t>(‘</a:t>
            </a:r>
            <a:r>
              <a:rPr lang="ja-JP" altLang="en-US" sz="2000" dirty="0"/>
              <a:t>メールアドレス</a:t>
            </a:r>
            <a:r>
              <a:rPr lang="en-US" altLang="ja-JP" sz="2000" dirty="0"/>
              <a:t>’,’</a:t>
            </a:r>
            <a:r>
              <a:rPr lang="ja-JP" altLang="en-US" sz="2000" dirty="0"/>
              <a:t>パスワード</a:t>
            </a:r>
            <a:r>
              <a:rPr lang="en-US" altLang="ja-JP" sz="2000" dirty="0"/>
              <a:t>’,</a:t>
            </a:r>
            <a:r>
              <a:rPr lang="ja-JP" altLang="en-US" sz="2000" dirty="0"/>
              <a:t>リメンバートークンを使用するか</a:t>
            </a:r>
            <a:r>
              <a:rPr lang="en-US" altLang="ja-JP" sz="2000" dirty="0"/>
              <a:t>);</a:t>
            </a:r>
          </a:p>
          <a:p>
            <a:pPr marL="0" indent="0">
              <a:buNone/>
            </a:pPr>
            <a:r>
              <a:rPr kumimoji="1" lang="en-US" altLang="ja-JP" sz="2000" dirty="0"/>
              <a:t>				// </a:t>
            </a:r>
            <a:r>
              <a:rPr kumimoji="1" lang="ja-JP" altLang="en-US" sz="2000" dirty="0"/>
              <a:t>ログインを試みる</a:t>
            </a:r>
            <a:r>
              <a:rPr kumimoji="1" lang="en-US" altLang="ja-JP" sz="2000" dirty="0"/>
              <a:t>(true/false)</a:t>
            </a:r>
          </a:p>
          <a:p>
            <a:pPr marL="0" indent="0">
              <a:buNone/>
            </a:pPr>
            <a:r>
              <a:rPr lang="ja-JP" altLang="en-US" sz="2000" dirty="0">
                <a:solidFill>
                  <a:srgbClr val="FF0000"/>
                </a:solidFill>
              </a:rPr>
              <a:t>＊リメンバートークン</a:t>
            </a:r>
            <a:r>
              <a:rPr lang="en-US" altLang="ja-JP" sz="2000" dirty="0">
                <a:solidFill>
                  <a:srgbClr val="FF0000"/>
                </a:solidFill>
              </a:rPr>
              <a:t>: </a:t>
            </a:r>
            <a:r>
              <a:rPr lang="ja-JP" altLang="en-US" sz="2000" dirty="0">
                <a:solidFill>
                  <a:srgbClr val="FF0000"/>
                </a:solidFill>
              </a:rPr>
              <a:t>セッションが切れてもログイン状態を維持する。</a:t>
            </a:r>
            <a:endParaRPr lang="en-US" altLang="ja-JP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ja-JP" altLang="en-US" sz="2000" dirty="0">
                <a:solidFill>
                  <a:srgbClr val="FF0000"/>
                </a:solidFill>
              </a:rPr>
              <a:t>＊ログインに成功した場合</a:t>
            </a:r>
            <a:r>
              <a:rPr kumimoji="1" lang="en-US" altLang="ja-JP" sz="2000" dirty="0">
                <a:solidFill>
                  <a:srgbClr val="FF0000"/>
                </a:solidFill>
              </a:rPr>
              <a:t>true/</a:t>
            </a:r>
            <a:r>
              <a:rPr kumimoji="1" lang="ja-JP" altLang="en-US" sz="2000" dirty="0">
                <a:solidFill>
                  <a:srgbClr val="FF0000"/>
                </a:solidFill>
              </a:rPr>
              <a:t>失敗した場合</a:t>
            </a:r>
            <a:r>
              <a:rPr kumimoji="1" lang="en-US" altLang="ja-JP" sz="2000" dirty="0">
                <a:solidFill>
                  <a:srgbClr val="FF0000"/>
                </a:solidFill>
              </a:rPr>
              <a:t>false</a:t>
            </a:r>
            <a:r>
              <a:rPr kumimoji="1" lang="ja-JP" altLang="en-US" sz="2000" dirty="0">
                <a:solidFill>
                  <a:srgbClr val="FF0000"/>
                </a:solidFill>
              </a:rPr>
              <a:t>を返します。</a:t>
            </a:r>
            <a:endParaRPr kumimoji="1" lang="en-US" altLang="ja-JP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256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3893B-6898-CD85-DA7E-239DD0AA4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CSRFToken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0219EC-ADCB-C796-21DA-C969FCD4B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lib\</a:t>
            </a:r>
            <a:r>
              <a:rPr kumimoji="1" lang="en-US" altLang="ja-JP" dirty="0" err="1"/>
              <a:t>CSRFToken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トークンを生成</a:t>
            </a:r>
            <a:r>
              <a:rPr kumimoji="1" lang="en-US" altLang="ja-JP" dirty="0"/>
              <a:t>/</a:t>
            </a:r>
            <a:r>
              <a:rPr kumimoji="1" lang="ja-JP" altLang="en-US" dirty="0"/>
              <a:t>検証する独自ライブラリ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sz="2000" dirty="0"/>
              <a:t>$</a:t>
            </a:r>
            <a:r>
              <a:rPr lang="en-US" altLang="ja-JP" sz="2000" dirty="0" err="1"/>
              <a:t>csrfToken</a:t>
            </a:r>
            <a:r>
              <a:rPr lang="en-US" altLang="ja-JP" sz="2000" dirty="0"/>
              <a:t> = new </a:t>
            </a:r>
            <a:r>
              <a:rPr lang="en-US" altLang="ja-JP" sz="2000" dirty="0" err="1"/>
              <a:t>CSRFToken</a:t>
            </a:r>
            <a:r>
              <a:rPr lang="en-US" altLang="ja-JP" sz="2000" dirty="0"/>
              <a:t>();</a:t>
            </a:r>
          </a:p>
          <a:p>
            <a:pPr marL="0" indent="0">
              <a:buNone/>
            </a:pPr>
            <a:r>
              <a:rPr kumimoji="1" lang="en-US" altLang="ja-JP" sz="2000" dirty="0"/>
              <a:t>$</a:t>
            </a:r>
            <a:r>
              <a:rPr kumimoji="1" lang="en-US" altLang="ja-JP" sz="2000" dirty="0" err="1"/>
              <a:t>csrfToken</a:t>
            </a:r>
            <a:r>
              <a:rPr kumimoji="1" lang="en-US" altLang="ja-JP" sz="2000" dirty="0"/>
              <a:t>-&gt;</a:t>
            </a:r>
            <a:r>
              <a:rPr kumimoji="1" lang="en-US" altLang="ja-JP" sz="2000" dirty="0" err="1"/>
              <a:t>getToken</a:t>
            </a:r>
            <a:r>
              <a:rPr kumimoji="1" lang="en-US" altLang="ja-JP" sz="2000" dirty="0"/>
              <a:t>(); 	// </a:t>
            </a:r>
            <a:r>
              <a:rPr kumimoji="1" lang="ja-JP" altLang="en-US" sz="2000" dirty="0"/>
              <a:t>トークンを取得</a:t>
            </a:r>
            <a:r>
              <a:rPr kumimoji="1" lang="en-US" altLang="ja-JP" sz="2000" dirty="0"/>
              <a:t>=</a:t>
            </a:r>
            <a:r>
              <a:rPr kumimoji="1" lang="ja-JP" altLang="en-US" sz="2000" dirty="0"/>
              <a:t>フォームに埋め込む</a:t>
            </a:r>
            <a:endParaRPr kumimoji="1" lang="en-US" altLang="ja-JP" sz="2000" dirty="0"/>
          </a:p>
          <a:p>
            <a:pPr marL="0" indent="0">
              <a:buNone/>
            </a:pPr>
            <a:r>
              <a:rPr lang="en-US" altLang="ja-JP" sz="2000" dirty="0"/>
              <a:t>$</a:t>
            </a:r>
            <a:r>
              <a:rPr lang="en-US" altLang="ja-JP" sz="2000" dirty="0" err="1"/>
              <a:t>csrfToken</a:t>
            </a:r>
            <a:r>
              <a:rPr lang="en-US" altLang="ja-JP" sz="2000" dirty="0"/>
              <a:t>-&gt;</a:t>
            </a:r>
            <a:r>
              <a:rPr lang="en-US" altLang="ja-JP" sz="2000" dirty="0" err="1"/>
              <a:t>isValid</a:t>
            </a:r>
            <a:r>
              <a:rPr lang="en-US" altLang="ja-JP" sz="2000" dirty="0"/>
              <a:t>(</a:t>
            </a:r>
            <a:r>
              <a:rPr lang="ja-JP" altLang="en-US" sz="2000" dirty="0"/>
              <a:t>トークン</a:t>
            </a:r>
            <a:r>
              <a:rPr lang="en-US" altLang="ja-JP" sz="2000" dirty="0"/>
              <a:t>); 	// </a:t>
            </a:r>
            <a:r>
              <a:rPr lang="ja-JP" altLang="en-US" sz="2000" dirty="0"/>
              <a:t>トークンを検証</a:t>
            </a:r>
            <a:r>
              <a:rPr lang="en-US" altLang="ja-JP" sz="2000" dirty="0"/>
              <a:t>=</a:t>
            </a:r>
            <a:r>
              <a:rPr lang="ja-JP" altLang="en-US" sz="2000" dirty="0"/>
              <a:t>バックエンドで検証</a:t>
            </a:r>
            <a:endParaRPr lang="en-US" altLang="ja-JP" sz="2000" dirty="0"/>
          </a:p>
          <a:p>
            <a:pPr marL="0" indent="0">
              <a:buNone/>
            </a:pPr>
            <a:endParaRPr kumimoji="1" lang="en-US" altLang="ja-JP" sz="2000" dirty="0"/>
          </a:p>
          <a:p>
            <a:pPr marL="0" indent="0">
              <a:buNone/>
            </a:pPr>
            <a:endParaRPr kumimoji="1" lang="ja-JP" altLang="en-US" sz="2000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F661532-EB6C-1700-3679-48141E3100B7}"/>
              </a:ext>
            </a:extLst>
          </p:cNvPr>
          <p:cNvGrpSpPr/>
          <p:nvPr/>
        </p:nvGrpSpPr>
        <p:grpSpPr>
          <a:xfrm>
            <a:off x="838200" y="2937281"/>
            <a:ext cx="5146040" cy="3444469"/>
            <a:chOff x="838199" y="3212087"/>
            <a:chExt cx="3008587" cy="3444469"/>
          </a:xfrm>
          <a:solidFill>
            <a:schemeClr val="bg1"/>
          </a:solidFill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5F82583-4884-5CE8-8C4D-DEA3440BC001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847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フロントエンド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22E2610-1C5E-77CA-5DD2-E53751866C08}"/>
                </a:ext>
              </a:extLst>
            </p:cNvPr>
            <p:cNvSpPr txBox="1"/>
            <p:nvPr/>
          </p:nvSpPr>
          <p:spPr>
            <a:xfrm>
              <a:off x="838200" y="3794234"/>
              <a:ext cx="3008586" cy="286232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dirty="0"/>
                <a:t>&lt;?</a:t>
              </a:r>
              <a:r>
                <a:rPr lang="en-US" altLang="ja-JP" dirty="0" err="1"/>
                <a:t>php</a:t>
              </a:r>
              <a:r>
                <a:rPr lang="en-US" altLang="ja-JP" dirty="0"/>
                <a:t> $</a:t>
              </a:r>
              <a:r>
                <a:rPr lang="en-US" altLang="ja-JP" dirty="0" err="1"/>
                <a:t>csrfToken</a:t>
              </a:r>
              <a:r>
                <a:rPr lang="en-US" altLang="ja-JP" dirty="0"/>
                <a:t> = new lib\</a:t>
              </a:r>
              <a:r>
                <a:rPr lang="en-US" altLang="ja-JP" i="1" dirty="0" err="1"/>
                <a:t>CSRFToken</a:t>
              </a:r>
              <a:r>
                <a:rPr lang="en-US" altLang="ja-JP" dirty="0"/>
                <a:t>(); ?&gt;</a:t>
              </a:r>
            </a:p>
            <a:p>
              <a:r>
                <a:rPr lang="en-US" altLang="ja-JP" dirty="0"/>
                <a:t>&lt;form&gt;</a:t>
              </a:r>
            </a:p>
            <a:p>
              <a:r>
                <a:rPr lang="en-US" altLang="ja-JP" dirty="0"/>
                <a:t>    &lt;input </a:t>
              </a:r>
            </a:p>
            <a:p>
              <a:r>
                <a:rPr lang="en-US" altLang="ja-JP" dirty="0"/>
                <a:t>        type=“hidden” </a:t>
              </a:r>
            </a:p>
            <a:p>
              <a:r>
                <a:rPr lang="en-US" altLang="ja-JP" dirty="0"/>
                <a:t>        value=“&lt;?= $</a:t>
              </a:r>
              <a:r>
                <a:rPr lang="en-US" altLang="ja-JP" dirty="0" err="1"/>
                <a:t>csrfToken</a:t>
              </a:r>
              <a:r>
                <a:rPr lang="en-US" altLang="ja-JP" dirty="0"/>
                <a:t>-&gt;</a:t>
              </a:r>
              <a:r>
                <a:rPr lang="en-US" altLang="ja-JP" i="1" dirty="0" err="1"/>
                <a:t>getToken</a:t>
              </a:r>
              <a:r>
                <a:rPr lang="en-US" altLang="ja-JP" dirty="0"/>
                <a:t>() ?&gt;”</a:t>
              </a:r>
            </a:p>
            <a:p>
              <a:r>
                <a:rPr lang="en-US" altLang="ja-JP" dirty="0"/>
                <a:t>        name=“</a:t>
              </a:r>
              <a:r>
                <a:rPr lang="en-US" altLang="ja-JP" dirty="0" err="1"/>
                <a:t>csrf_token</a:t>
              </a:r>
              <a:r>
                <a:rPr lang="en-US" altLang="ja-JP" dirty="0"/>
                <a:t>”</a:t>
              </a:r>
            </a:p>
            <a:p>
              <a:r>
                <a:rPr lang="en-US" altLang="ja-JP" dirty="0"/>
                <a:t>    /&gt;</a:t>
              </a:r>
            </a:p>
            <a:p>
              <a:r>
                <a:rPr lang="en-US" altLang="ja-JP" dirty="0"/>
                <a:t>    &lt;input type=“mail” name=“mail” /&gt;</a:t>
              </a:r>
            </a:p>
            <a:p>
              <a:r>
                <a:rPr lang="en-US" altLang="ja-JP" dirty="0"/>
                <a:t>    &lt;input type=“submit” /&gt;</a:t>
              </a:r>
            </a:p>
            <a:p>
              <a:r>
                <a:rPr lang="en-US" altLang="ja-JP" dirty="0"/>
                <a:t>&lt;/form&gt;</a:t>
              </a:r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AA4062C-4E75-A6A7-CFC6-0E47539CD92A}"/>
              </a:ext>
            </a:extLst>
          </p:cNvPr>
          <p:cNvGrpSpPr/>
          <p:nvPr/>
        </p:nvGrpSpPr>
        <p:grpSpPr>
          <a:xfrm>
            <a:off x="6319520" y="2937281"/>
            <a:ext cx="4033520" cy="3444469"/>
            <a:chOff x="838199" y="3212087"/>
            <a:chExt cx="3008587" cy="3444469"/>
          </a:xfrm>
          <a:solidFill>
            <a:schemeClr val="bg1"/>
          </a:solidFill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B30B636-BC92-E33D-B81A-E029983DAD78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847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バックエンド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E17D83DA-EFEB-6D90-9F2B-BADEC90C1112}"/>
                </a:ext>
              </a:extLst>
            </p:cNvPr>
            <p:cNvSpPr txBox="1"/>
            <p:nvPr/>
          </p:nvSpPr>
          <p:spPr>
            <a:xfrm>
              <a:off x="838200" y="3794234"/>
              <a:ext cx="3008586" cy="286232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dirty="0"/>
                <a:t>&lt;?</a:t>
              </a:r>
              <a:r>
                <a:rPr lang="en-US" altLang="ja-JP" dirty="0" err="1"/>
                <a:t>php</a:t>
              </a:r>
              <a:r>
                <a:rPr lang="en-US" altLang="ja-JP" dirty="0"/>
                <a:t> </a:t>
              </a:r>
            </a:p>
            <a:p>
              <a:r>
                <a:rPr lang="en-US" altLang="ja-JP" dirty="0"/>
                <a:t>$</a:t>
              </a:r>
              <a:r>
                <a:rPr lang="en-US" altLang="ja-JP" dirty="0" err="1"/>
                <a:t>csrfToken</a:t>
              </a:r>
              <a:r>
                <a:rPr lang="en-US" altLang="ja-JP" dirty="0"/>
                <a:t>  = new lib\</a:t>
              </a:r>
              <a:r>
                <a:rPr lang="en-US" altLang="ja-JP" i="1" dirty="0" err="1"/>
                <a:t>CSRFToken</a:t>
              </a:r>
              <a:r>
                <a:rPr lang="en-US" altLang="ja-JP" dirty="0"/>
                <a:t>();</a:t>
              </a:r>
            </a:p>
            <a:p>
              <a:r>
                <a:rPr lang="en-US" altLang="ja-JP" dirty="0"/>
                <a:t>$</a:t>
              </a:r>
              <a:r>
                <a:rPr lang="en-US" altLang="ja-JP" dirty="0" err="1"/>
                <a:t>csrf_token</a:t>
              </a:r>
              <a:r>
                <a:rPr lang="en-US" altLang="ja-JP" dirty="0"/>
                <a:t> = $_POST['</a:t>
              </a:r>
              <a:r>
                <a:rPr lang="en-US" altLang="ja-JP" dirty="0" err="1"/>
                <a:t>csrf_token</a:t>
              </a:r>
              <a:r>
                <a:rPr lang="en-US" altLang="ja-JP" dirty="0"/>
                <a:t>'];</a:t>
              </a:r>
            </a:p>
            <a:p>
              <a:r>
                <a:rPr lang="en-US" altLang="ja-JP" dirty="0"/>
                <a:t>$mail            = $_POST['mail'];</a:t>
              </a:r>
              <a:br>
                <a:rPr lang="en-US" altLang="ja-JP" dirty="0"/>
              </a:br>
              <a:endParaRPr lang="en-US" altLang="ja-JP" dirty="0"/>
            </a:p>
            <a:p>
              <a:r>
                <a:rPr lang="en-US" altLang="ja-JP" dirty="0"/>
                <a:t>if($</a:t>
              </a:r>
              <a:r>
                <a:rPr lang="en-US" altLang="ja-JP" dirty="0" err="1"/>
                <a:t>csrfToken</a:t>
              </a:r>
              <a:r>
                <a:rPr lang="en-US" altLang="ja-JP" dirty="0"/>
                <a:t>-&gt;</a:t>
              </a:r>
              <a:r>
                <a:rPr lang="en-US" altLang="ja-JP" i="1" dirty="0" err="1"/>
                <a:t>isValid</a:t>
              </a:r>
              <a:r>
                <a:rPr lang="en-US" altLang="ja-JP" dirty="0"/>
                <a:t>($</a:t>
              </a:r>
              <a:r>
                <a:rPr lang="en-US" altLang="ja-JP" dirty="0" err="1"/>
                <a:t>csrf_token</a:t>
              </a:r>
              <a:r>
                <a:rPr lang="en-US" altLang="ja-JP" dirty="0"/>
                <a:t>))</a:t>
              </a:r>
            </a:p>
            <a:p>
              <a:r>
                <a:rPr lang="en-US" altLang="ja-JP" dirty="0"/>
                <a:t>    </a:t>
              </a:r>
              <a:r>
                <a:rPr lang="en-US" altLang="ja-JP" i="1" dirty="0"/>
                <a:t>echo</a:t>
              </a:r>
              <a:r>
                <a:rPr lang="en-US" altLang="ja-JP" dirty="0"/>
                <a:t> '</a:t>
              </a:r>
              <a:r>
                <a:rPr lang="ja-JP" altLang="en-US" dirty="0"/>
                <a:t>問題なし</a:t>
              </a:r>
              <a:r>
                <a:rPr lang="en-US" altLang="ja-JP" dirty="0"/>
                <a:t>';</a:t>
              </a:r>
              <a:endParaRPr lang="ja-JP" altLang="en-US" dirty="0"/>
            </a:p>
            <a:p>
              <a:r>
                <a:rPr lang="en-US" altLang="ja-JP" dirty="0"/>
                <a:t>else</a:t>
              </a:r>
            </a:p>
            <a:p>
              <a:r>
                <a:rPr lang="en-US" altLang="ja-JP" dirty="0"/>
                <a:t>    </a:t>
              </a:r>
              <a:r>
                <a:rPr lang="en-US" altLang="ja-JP" i="1" dirty="0"/>
                <a:t>echo</a:t>
              </a:r>
              <a:r>
                <a:rPr lang="en-US" altLang="ja-JP" dirty="0"/>
                <a:t> '</a:t>
              </a:r>
              <a:r>
                <a:rPr lang="ja-JP" altLang="en-US" dirty="0"/>
                <a:t>不正なリクエスト</a:t>
              </a:r>
              <a:r>
                <a:rPr lang="en-US" altLang="ja-JP" dirty="0"/>
                <a:t>';</a:t>
              </a:r>
              <a:r>
                <a:rPr lang="ja-JP" altLang="en-US" dirty="0"/>
                <a:t> </a:t>
              </a:r>
            </a:p>
            <a:p>
              <a:r>
                <a:rPr lang="en-US" altLang="ja-JP" dirty="0"/>
                <a:t>?&gt;</a:t>
              </a:r>
              <a:endParaRPr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59969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BF601D-D5CB-D219-CC51-42EF86F1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hinx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FE6A32-C06E-7719-0EDC-704548D7A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Phinx</a:t>
            </a:r>
            <a:r>
              <a:rPr kumimoji="1" lang="en-US" altLang="ja-JP" dirty="0"/>
              <a:t>: </a:t>
            </a:r>
            <a:r>
              <a:rPr lang="ja-JP" altLang="en-US" dirty="0"/>
              <a:t>データベースのマイグレーションを行うライブラリ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2000" dirty="0"/>
              <a:t>データベースのスキーマをバージョン管理するためのツールで、</a:t>
            </a:r>
            <a:br>
              <a:rPr lang="en-US" altLang="ja-JP" sz="2000" dirty="0"/>
            </a:br>
            <a:r>
              <a:rPr lang="ja-JP" altLang="en-US" sz="2000" b="1" dirty="0"/>
              <a:t>データベースの変更をコードで管理</a:t>
            </a:r>
            <a:r>
              <a:rPr lang="ja-JP" altLang="en-US" sz="2000" dirty="0"/>
              <a:t>できます。</a:t>
            </a:r>
          </a:p>
          <a:p>
            <a:pPr marL="0" indent="0">
              <a:buNone/>
            </a:pPr>
            <a:r>
              <a:rPr lang="ja-JP" altLang="en-US" sz="2000" dirty="0"/>
              <a:t>これにより、開発チーム全体でデータベースの変更を共有しやすくなります。</a:t>
            </a:r>
          </a:p>
          <a:p>
            <a:pPr marL="0" indent="0">
              <a:buNone/>
            </a:pPr>
            <a:r>
              <a:rPr lang="ja-JP" altLang="en-US" sz="2000" dirty="0"/>
              <a:t>マイグレーションファイルは、データベースの変更を定義する</a:t>
            </a:r>
            <a:r>
              <a:rPr lang="en-US" altLang="ja-JP" sz="2000" dirty="0"/>
              <a:t>PHP</a:t>
            </a:r>
            <a:r>
              <a:rPr lang="ja-JP" altLang="en-US" sz="2000" dirty="0"/>
              <a:t>クラスで構成されます。</a:t>
            </a:r>
          </a:p>
          <a:p>
            <a:pPr marL="0" indent="0">
              <a:buNone/>
            </a:pPr>
            <a:r>
              <a:rPr lang="en-US" altLang="ja-JP" sz="2000" dirty="0"/>
              <a:t>seeds</a:t>
            </a:r>
            <a:r>
              <a:rPr lang="ja-JP" altLang="en-US" sz="2000" dirty="0"/>
              <a:t>によって</a:t>
            </a:r>
            <a:r>
              <a:rPr lang="ja-JP" altLang="en-US" sz="2000" b="1" dirty="0"/>
              <a:t>初期データ、テストデータを投入することもできます。</a:t>
            </a:r>
            <a:endParaRPr lang="en-US" altLang="ja-JP" sz="2000" b="1" dirty="0"/>
          </a:p>
          <a:p>
            <a:pPr marL="0" indent="0">
              <a:buNone/>
            </a:pPr>
            <a:endParaRPr kumimoji="1" lang="en-US" altLang="ja-JP" sz="2000" b="1" dirty="0"/>
          </a:p>
          <a:p>
            <a:pPr marL="0" indent="0">
              <a:buNone/>
            </a:pPr>
            <a:r>
              <a:rPr lang="ja-JP" altLang="en-US" sz="2000" dirty="0"/>
              <a:t>最新のデータベースにする。</a:t>
            </a:r>
            <a:r>
              <a:rPr lang="en-US" altLang="ja-JP" sz="2000" dirty="0"/>
              <a:t> 	: vendor/bin/</a:t>
            </a:r>
            <a:r>
              <a:rPr lang="en-US" altLang="ja-JP" sz="2000" dirty="0" err="1"/>
              <a:t>phinx</a:t>
            </a:r>
            <a:r>
              <a:rPr lang="en-US" altLang="ja-JP" sz="2000" dirty="0"/>
              <a:t> migrate</a:t>
            </a:r>
          </a:p>
          <a:p>
            <a:pPr marL="0" indent="0">
              <a:buNone/>
            </a:pPr>
            <a:r>
              <a:rPr kumimoji="1" lang="ja-JP" altLang="en-US" sz="2000" dirty="0"/>
              <a:t>前に戻す</a:t>
            </a:r>
            <a:r>
              <a:rPr lang="ja-JP" altLang="en-US" sz="2000" dirty="0"/>
              <a:t>。</a:t>
            </a:r>
            <a:r>
              <a:rPr lang="en-US" altLang="ja-JP" sz="2000" dirty="0"/>
              <a:t>			: vendor/bin/</a:t>
            </a:r>
            <a:r>
              <a:rPr lang="en-US" altLang="ja-JP" sz="2000" dirty="0" err="1"/>
              <a:t>phinx</a:t>
            </a:r>
            <a:r>
              <a:rPr lang="en-US" altLang="ja-JP" sz="2000" dirty="0"/>
              <a:t> rollback</a:t>
            </a:r>
          </a:p>
          <a:p>
            <a:pPr marL="0" indent="0">
              <a:buNone/>
            </a:pPr>
            <a:r>
              <a:rPr kumimoji="1" lang="ja-JP" altLang="en-US" sz="2000" dirty="0"/>
              <a:t>マイグレーションを作成</a:t>
            </a:r>
            <a:r>
              <a:rPr lang="ja-JP" altLang="en-US" sz="2000" dirty="0"/>
              <a:t>する。</a:t>
            </a:r>
            <a:r>
              <a:rPr lang="en-US" altLang="ja-JP" sz="2000" dirty="0"/>
              <a:t>	: vendor/bin/</a:t>
            </a:r>
            <a:r>
              <a:rPr lang="en-US" altLang="ja-JP" sz="2000" dirty="0" err="1"/>
              <a:t>phinx</a:t>
            </a:r>
            <a:r>
              <a:rPr lang="en-US" altLang="ja-JP" sz="2000" dirty="0"/>
              <a:t> create </a:t>
            </a:r>
            <a:r>
              <a:rPr lang="ja-JP" altLang="en-US" sz="2000" dirty="0"/>
              <a:t>マイグレーション名</a:t>
            </a:r>
            <a:endParaRPr lang="en-US" altLang="ja-JP" sz="2000" dirty="0"/>
          </a:p>
          <a:p>
            <a:pPr marL="0" indent="0">
              <a:buNone/>
            </a:pPr>
            <a:r>
              <a:rPr kumimoji="1" lang="en-US" altLang="ja-JP" sz="2000" dirty="0"/>
              <a:t>Seed</a:t>
            </a:r>
            <a:r>
              <a:rPr kumimoji="1" lang="ja-JP" altLang="en-US" sz="2000" dirty="0"/>
              <a:t>を作成する。</a:t>
            </a:r>
            <a:r>
              <a:rPr kumimoji="1" lang="en-US" altLang="ja-JP" sz="2000" dirty="0"/>
              <a:t>		: vendor/bin/</a:t>
            </a:r>
            <a:r>
              <a:rPr kumimoji="1" lang="en-US" altLang="ja-JP" sz="2000" dirty="0" err="1"/>
              <a:t>phinx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seed:create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シード名</a:t>
            </a:r>
            <a:endParaRPr kumimoji="1" lang="en-US" altLang="ja-JP" sz="2000" dirty="0"/>
          </a:p>
          <a:p>
            <a:pPr marL="0" indent="0">
              <a:buNone/>
            </a:pPr>
            <a:r>
              <a:rPr lang="en-US" altLang="ja-JP" sz="2000" dirty="0"/>
              <a:t>Seed</a:t>
            </a:r>
            <a:r>
              <a:rPr lang="ja-JP" altLang="en-US" sz="2000" dirty="0"/>
              <a:t>を適用する。</a:t>
            </a:r>
            <a:r>
              <a:rPr lang="en-US" altLang="ja-JP" sz="2000" dirty="0"/>
              <a:t>		: vendor/bin/</a:t>
            </a:r>
            <a:r>
              <a:rPr lang="en-US" altLang="ja-JP" sz="2000" dirty="0" err="1"/>
              <a:t>phinx</a:t>
            </a:r>
            <a:r>
              <a:rPr lang="en-US" altLang="ja-JP" sz="2000" dirty="0"/>
              <a:t> </a:t>
            </a:r>
            <a:r>
              <a:rPr lang="en-US" altLang="ja-JP" sz="2000" dirty="0" err="1"/>
              <a:t>seed:run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4641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E2738F-5C2A-ABBC-397C-94547530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i="1" dirty="0"/>
              <a:t>Eloquent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D62E70-DEB1-F33A-6571-447E29D1C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データベースをモデルとして扱う</a:t>
            </a:r>
            <a:r>
              <a:rPr kumimoji="1" lang="en-US" altLang="ja-JP" dirty="0" err="1"/>
              <a:t>laravel</a:t>
            </a:r>
            <a:r>
              <a:rPr kumimoji="1" lang="ja-JP" altLang="en-US" dirty="0"/>
              <a:t>のライブラリ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sz="2000" dirty="0"/>
              <a:t>Model</a:t>
            </a:r>
            <a:r>
              <a:rPr kumimoji="1" lang="ja-JP" altLang="en-US" sz="2000" dirty="0"/>
              <a:t>を継承してモデルを作成する。</a:t>
            </a:r>
            <a:r>
              <a:rPr kumimoji="1" lang="en-US" altLang="ja-JP" sz="2000" dirty="0"/>
              <a:t>=Laravel</a:t>
            </a:r>
            <a:r>
              <a:rPr kumimoji="1" lang="ja-JP" altLang="en-US" sz="2000" dirty="0"/>
              <a:t>を使っていれば自動で作ってくれる。</a:t>
            </a:r>
            <a:endParaRPr kumimoji="1" lang="en-US" altLang="ja-JP" sz="2000" dirty="0"/>
          </a:p>
          <a:p>
            <a:pPr marL="0" indent="0">
              <a:buNone/>
            </a:pPr>
            <a:endParaRPr kumimoji="1" lang="en-US" altLang="ja-JP" sz="2000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4E7B99D-9AD5-6AA9-C8D7-F7883B1C8795}"/>
              </a:ext>
            </a:extLst>
          </p:cNvPr>
          <p:cNvGrpSpPr/>
          <p:nvPr/>
        </p:nvGrpSpPr>
        <p:grpSpPr>
          <a:xfrm>
            <a:off x="633308" y="2236241"/>
            <a:ext cx="5146040" cy="3998467"/>
            <a:chOff x="838199" y="3212087"/>
            <a:chExt cx="3008587" cy="3998467"/>
          </a:xfrm>
          <a:solidFill>
            <a:schemeClr val="bg1"/>
          </a:solidFill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64B35F4-AB6F-66CD-C5CB-6009181C6400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847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en-US" altLang="ja-JP" sz="3200" dirty="0"/>
                <a:t>SQL</a:t>
              </a:r>
              <a:endParaRPr kumimoji="1" lang="ja-JP" altLang="en-US" sz="3200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322E96F-3603-82AE-A714-53590C4873B2}"/>
                </a:ext>
              </a:extLst>
            </p:cNvPr>
            <p:cNvSpPr txBox="1"/>
            <p:nvPr/>
          </p:nvSpPr>
          <p:spPr>
            <a:xfrm>
              <a:off x="838200" y="3794234"/>
              <a:ext cx="3008586" cy="34163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dirty="0"/>
                <a:t>SELECT id, </a:t>
              </a:r>
              <a:r>
                <a:rPr lang="en-US" altLang="ja-JP" dirty="0" err="1"/>
                <a:t>user_id</a:t>
              </a:r>
              <a:r>
                <a:rPr lang="en-US" altLang="ja-JP" dirty="0"/>
                <a:t>, password FROM users;</a:t>
              </a:r>
            </a:p>
            <a:p>
              <a:endParaRPr lang="en-US" altLang="ja-JP" dirty="0"/>
            </a:p>
            <a:p>
              <a:r>
                <a:rPr lang="en-US" altLang="ja-JP" dirty="0"/>
                <a:t>SELECT id, </a:t>
              </a:r>
              <a:r>
                <a:rPr lang="en-US" altLang="ja-JP" dirty="0" err="1"/>
                <a:t>user_id</a:t>
              </a:r>
              <a:r>
                <a:rPr lang="en-US" altLang="ja-JP" dirty="0"/>
                <a:t> FROM users </a:t>
              </a:r>
            </a:p>
            <a:p>
              <a:r>
                <a:rPr lang="en-US" altLang="ja-JP" dirty="0"/>
                <a:t>WHERE </a:t>
              </a:r>
              <a:r>
                <a:rPr lang="en-US" altLang="ja-JP" dirty="0" err="1"/>
                <a:t>user_id</a:t>
              </a:r>
              <a:r>
                <a:rPr lang="en-US" altLang="ja-JP" dirty="0"/>
                <a:t> = ‘</a:t>
              </a:r>
              <a:r>
                <a:rPr lang="en-US" altLang="ja-JP" dirty="0" err="1"/>
                <a:t>otonari</a:t>
              </a:r>
              <a:r>
                <a:rPr lang="en-US" altLang="ja-JP" dirty="0"/>
                <a:t>’;</a:t>
              </a:r>
            </a:p>
            <a:p>
              <a:endParaRPr lang="en-US" altLang="ja-JP" dirty="0"/>
            </a:p>
            <a:p>
              <a:endParaRPr lang="en-US" altLang="ja-JP" dirty="0"/>
            </a:p>
            <a:p>
              <a:r>
                <a:rPr lang="en-US" altLang="ja-JP" i="1" dirty="0"/>
                <a:t>UPDATE users SET </a:t>
              </a:r>
              <a:r>
                <a:rPr lang="en-US" altLang="ja-JP" i="1" dirty="0" err="1"/>
                <a:t>user_id</a:t>
              </a:r>
              <a:r>
                <a:rPr lang="en-US" altLang="ja-JP" i="1" dirty="0"/>
                <a:t> = '</a:t>
              </a:r>
              <a:r>
                <a:rPr lang="en-US" altLang="ja-JP" i="1" dirty="0" err="1"/>
                <a:t>otonari</a:t>
              </a:r>
              <a:r>
                <a:rPr lang="en-US" altLang="ja-JP" i="1" dirty="0"/>
                <a:t>’ </a:t>
              </a:r>
            </a:p>
            <a:p>
              <a:r>
                <a:rPr lang="en-US" altLang="ja-JP" i="1" dirty="0"/>
                <a:t>WHERE id = 1;</a:t>
              </a:r>
              <a:endParaRPr lang="en-US" altLang="ja-JP" dirty="0"/>
            </a:p>
            <a:p>
              <a:endParaRPr lang="en-US" altLang="ja-JP" dirty="0"/>
            </a:p>
            <a:p>
              <a:endParaRPr lang="en-US" altLang="ja-JP" dirty="0"/>
            </a:p>
            <a:p>
              <a:r>
                <a:rPr lang="en-US" altLang="ja-JP" i="1" dirty="0"/>
                <a:t>INSERT INTO users (id, </a:t>
              </a:r>
              <a:r>
                <a:rPr lang="en-US" altLang="ja-JP" i="1" dirty="0" err="1"/>
                <a:t>user_id</a:t>
              </a:r>
              <a:r>
                <a:rPr lang="en-US" altLang="ja-JP" i="1" dirty="0"/>
                <a:t>) VALUES ( 1, '</a:t>
              </a:r>
              <a:r>
                <a:rPr lang="en-US" altLang="ja-JP" i="1" dirty="0" err="1"/>
                <a:t>otonari</a:t>
              </a:r>
              <a:r>
                <a:rPr lang="en-US" altLang="ja-JP" i="1" dirty="0"/>
                <a:t>' );</a:t>
              </a:r>
              <a:endParaRPr lang="en-US" altLang="ja-JP" dirty="0"/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1762209-5D4C-7574-A1A5-B495800AC307}"/>
              </a:ext>
            </a:extLst>
          </p:cNvPr>
          <p:cNvGrpSpPr/>
          <p:nvPr/>
        </p:nvGrpSpPr>
        <p:grpSpPr>
          <a:xfrm>
            <a:off x="6021032" y="2236241"/>
            <a:ext cx="5146034" cy="4275466"/>
            <a:chOff x="838199" y="3212087"/>
            <a:chExt cx="3008587" cy="4275466"/>
          </a:xfrm>
          <a:solidFill>
            <a:schemeClr val="bg1"/>
          </a:solidFill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F7E4F79-745E-7FE9-A782-E5EE7AA10D28}"/>
                </a:ext>
              </a:extLst>
            </p:cNvPr>
            <p:cNvSpPr txBox="1"/>
            <p:nvPr/>
          </p:nvSpPr>
          <p:spPr>
            <a:xfrm>
              <a:off x="838199" y="3212087"/>
              <a:ext cx="3008585" cy="5847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en-US" altLang="ja-JP" sz="3200" dirty="0"/>
                <a:t>ORM</a:t>
              </a:r>
              <a:endParaRPr kumimoji="1" lang="ja-JP" altLang="en-US" sz="32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4C14E3A-3CD6-6669-1AE6-DC4FB3C74D93}"/>
                </a:ext>
              </a:extLst>
            </p:cNvPr>
            <p:cNvSpPr txBox="1"/>
            <p:nvPr/>
          </p:nvSpPr>
          <p:spPr>
            <a:xfrm>
              <a:off x="838200" y="3794234"/>
              <a:ext cx="3008586" cy="369331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dirty="0"/>
                <a:t>models\</a:t>
              </a:r>
              <a:r>
                <a:rPr lang="en-US" altLang="ja-JP" i="1" dirty="0"/>
                <a:t>User</a:t>
              </a:r>
              <a:r>
                <a:rPr lang="en-US" altLang="ja-JP" dirty="0"/>
                <a:t>::</a:t>
              </a:r>
              <a:r>
                <a:rPr lang="en-US" altLang="ja-JP" i="1" dirty="0"/>
                <a:t>all</a:t>
              </a:r>
              <a:r>
                <a:rPr lang="en-US" altLang="ja-JP" dirty="0"/>
                <a:t>(['id', '</a:t>
              </a:r>
              <a:r>
                <a:rPr lang="en-US" altLang="ja-JP" dirty="0" err="1"/>
                <a:t>user_id','password</a:t>
              </a:r>
              <a:r>
                <a:rPr lang="en-US" altLang="ja-JP" dirty="0"/>
                <a:t>’]);</a:t>
              </a:r>
            </a:p>
            <a:p>
              <a:endParaRPr lang="en-US" altLang="ja-JP" dirty="0"/>
            </a:p>
            <a:p>
              <a:r>
                <a:rPr lang="en-US" altLang="ja-JP" dirty="0"/>
                <a:t>models\</a:t>
              </a:r>
              <a:r>
                <a:rPr lang="en-US" altLang="ja-JP" i="1" dirty="0"/>
                <a:t>User</a:t>
              </a:r>
              <a:r>
                <a:rPr lang="en-US" altLang="ja-JP" dirty="0"/>
                <a:t>::</a:t>
              </a:r>
              <a:r>
                <a:rPr lang="en-US" altLang="ja-JP" i="1" dirty="0"/>
                <a:t>query</a:t>
              </a:r>
              <a:r>
                <a:rPr lang="en-US" altLang="ja-JP" dirty="0"/>
                <a:t>()</a:t>
              </a:r>
            </a:p>
            <a:p>
              <a:r>
                <a:rPr lang="en-US" altLang="ja-JP" dirty="0"/>
                <a:t>        -&gt;</a:t>
              </a:r>
              <a:r>
                <a:rPr lang="en-US" altLang="ja-JP" i="1" dirty="0"/>
                <a:t>where</a:t>
              </a:r>
              <a:r>
                <a:rPr lang="en-US" altLang="ja-JP" dirty="0"/>
                <a:t>('</a:t>
              </a:r>
              <a:r>
                <a:rPr lang="en-US" altLang="ja-JP" dirty="0" err="1"/>
                <a:t>user_id</a:t>
              </a:r>
              <a:r>
                <a:rPr lang="en-US" altLang="ja-JP" dirty="0"/>
                <a:t>', '</a:t>
              </a:r>
              <a:r>
                <a:rPr lang="en-US" altLang="ja-JP" dirty="0" err="1"/>
                <a:t>otonari</a:t>
              </a:r>
              <a:r>
                <a:rPr lang="en-US" altLang="ja-JP" dirty="0"/>
                <a:t>')</a:t>
              </a:r>
            </a:p>
            <a:p>
              <a:r>
                <a:rPr lang="en-US" altLang="ja-JP" dirty="0"/>
                <a:t>        -&gt;</a:t>
              </a:r>
              <a:r>
                <a:rPr lang="en-US" altLang="ja-JP" i="1" dirty="0"/>
                <a:t>get</a:t>
              </a:r>
              <a:r>
                <a:rPr lang="en-US" altLang="ja-JP" dirty="0"/>
                <a:t>([‘id’, ‘</a:t>
              </a:r>
              <a:r>
                <a:rPr lang="en-US" altLang="ja-JP" dirty="0" err="1"/>
                <a:t>user_id</a:t>
              </a:r>
              <a:r>
                <a:rPr lang="en-US" altLang="ja-JP" dirty="0"/>
                <a:t>’]); // 1</a:t>
              </a:r>
              <a:r>
                <a:rPr lang="ja-JP" altLang="en-US" dirty="0"/>
                <a:t>件だけの場合は</a:t>
              </a:r>
              <a:r>
                <a:rPr lang="en-US" altLang="ja-JP" dirty="0"/>
                <a:t>first</a:t>
              </a:r>
            </a:p>
            <a:p>
              <a:endParaRPr lang="en-US" altLang="ja-JP" dirty="0"/>
            </a:p>
            <a:p>
              <a:r>
                <a:rPr lang="en-US" altLang="ja-JP" dirty="0"/>
                <a:t>models\</a:t>
              </a:r>
              <a:r>
                <a:rPr lang="en-US" altLang="ja-JP" i="1" dirty="0"/>
                <a:t>User</a:t>
              </a:r>
              <a:r>
                <a:rPr lang="en-US" altLang="ja-JP" dirty="0"/>
                <a:t>::</a:t>
              </a:r>
              <a:r>
                <a:rPr lang="en-US" altLang="ja-JP" i="1" dirty="0"/>
                <a:t>query</a:t>
              </a:r>
              <a:r>
                <a:rPr lang="en-US" altLang="ja-JP" dirty="0"/>
                <a:t>()</a:t>
              </a:r>
            </a:p>
            <a:p>
              <a:r>
                <a:rPr lang="en-US" altLang="ja-JP" dirty="0"/>
                <a:t>        -&gt;</a:t>
              </a:r>
              <a:r>
                <a:rPr lang="en-US" altLang="ja-JP" i="1" dirty="0"/>
                <a:t>where</a:t>
              </a:r>
              <a:r>
                <a:rPr lang="en-US" altLang="ja-JP" dirty="0"/>
                <a:t>('id', 1)</a:t>
              </a:r>
            </a:p>
            <a:p>
              <a:r>
                <a:rPr lang="en-US" altLang="ja-JP" dirty="0"/>
                <a:t>        -&gt;</a:t>
              </a:r>
              <a:r>
                <a:rPr lang="en-US" altLang="ja-JP" i="1" dirty="0"/>
                <a:t>update</a:t>
              </a:r>
              <a:r>
                <a:rPr lang="en-US" altLang="ja-JP" dirty="0"/>
                <a:t>(['</a:t>
              </a:r>
              <a:r>
                <a:rPr lang="en-US" altLang="ja-JP" dirty="0" err="1"/>
                <a:t>user_id</a:t>
              </a:r>
              <a:r>
                <a:rPr lang="en-US" altLang="ja-JP" dirty="0"/>
                <a:t>' =&gt; '</a:t>
              </a:r>
              <a:r>
                <a:rPr lang="en-US" altLang="ja-JP" dirty="0" err="1"/>
                <a:t>otonari</a:t>
              </a:r>
              <a:r>
                <a:rPr lang="en-US" altLang="ja-JP" dirty="0"/>
                <a:t>’]);</a:t>
              </a:r>
            </a:p>
            <a:p>
              <a:endParaRPr lang="en-US" altLang="ja-JP" dirty="0"/>
            </a:p>
            <a:p>
              <a:r>
                <a:rPr lang="en-US" altLang="ja-JP" dirty="0"/>
                <a:t>models\</a:t>
              </a:r>
              <a:r>
                <a:rPr lang="en-US" altLang="ja-JP" i="1" dirty="0"/>
                <a:t>User</a:t>
              </a:r>
              <a:r>
                <a:rPr lang="en-US" altLang="ja-JP" dirty="0"/>
                <a:t>::</a:t>
              </a:r>
              <a:r>
                <a:rPr lang="en-US" altLang="ja-JP" i="1" dirty="0"/>
                <a:t>create</a:t>
              </a:r>
              <a:r>
                <a:rPr lang="en-US" altLang="ja-JP" dirty="0"/>
                <a:t>([</a:t>
              </a:r>
            </a:p>
            <a:p>
              <a:r>
                <a:rPr lang="en-US" altLang="ja-JP" dirty="0"/>
                <a:t>        'id' =&gt; 1, '</a:t>
              </a:r>
              <a:r>
                <a:rPr lang="en-US" altLang="ja-JP" dirty="0" err="1"/>
                <a:t>user_id</a:t>
              </a:r>
              <a:r>
                <a:rPr lang="en-US" altLang="ja-JP" dirty="0"/>
                <a:t>' =&gt; '</a:t>
              </a:r>
              <a:r>
                <a:rPr lang="en-US" altLang="ja-JP" dirty="0" err="1"/>
                <a:t>otonari</a:t>
              </a:r>
              <a:r>
                <a:rPr lang="en-US" altLang="ja-JP" dirty="0"/>
                <a:t>’,</a:t>
              </a:r>
            </a:p>
            <a:p>
              <a:r>
                <a:rPr lang="en-US" altLang="ja-JP" dirty="0"/>
                <a:t>    ]);</a:t>
              </a: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E38611-2B80-7706-1FA7-AF897F7AE2AD}"/>
              </a:ext>
            </a:extLst>
          </p:cNvPr>
          <p:cNvSpPr txBox="1"/>
          <p:nvPr/>
        </p:nvSpPr>
        <p:spPr>
          <a:xfrm>
            <a:off x="8176163" y="1926559"/>
            <a:ext cx="4217821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プレースホルダを自動で入れてくれる。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直感的な操作ができる。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Ｄ</a:t>
            </a:r>
            <a:r>
              <a:rPr kumimoji="1" lang="en-US" altLang="ja-JP" dirty="0"/>
              <a:t>B</a:t>
            </a:r>
            <a:r>
              <a:rPr lang="ja-JP" altLang="en-US" dirty="0"/>
              <a:t>に依存しないコードを書ける。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3668204"/>
      </p:ext>
    </p:extLst>
  </p:cSld>
  <p:clrMapOvr>
    <a:masterClrMapping/>
  </p:clrMapOvr>
</p:sld>
</file>

<file path=ppt/theme/theme1.xml><?xml version="1.0" encoding="utf-8"?>
<a:theme xmlns:a="http://schemas.openxmlformats.org/drawingml/2006/main" name="SanaeProject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ユーザー定義 5">
      <a:majorFont>
        <a:latin typeface="Arial"/>
        <a:ea typeface="メイリオ"/>
        <a:cs typeface=""/>
      </a:majorFont>
      <a:minorFont>
        <a:latin typeface="Roboto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naeProject" id="{993D876C-D5F2-4C39-807F-8C612762710B}" vid="{A3930A1D-BAC6-41F9-BC13-795B1B8B7D7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SanaeProject</Template>
  <TotalTime>1219</TotalTime>
  <Words>1341</Words>
  <Application>Microsoft Office PowerPoint</Application>
  <PresentationFormat>ワイド画面</PresentationFormat>
  <Paragraphs>273</Paragraphs>
  <Slides>25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1" baseType="lpstr">
      <vt:lpstr>Noto Sans JP</vt:lpstr>
      <vt:lpstr>Noto Sans JP Medium</vt:lpstr>
      <vt:lpstr>游ゴシック</vt:lpstr>
      <vt:lpstr>Arial</vt:lpstr>
      <vt:lpstr>Roboto</vt:lpstr>
      <vt:lpstr>SanaeProject</vt:lpstr>
      <vt:lpstr>開発説明書</vt:lpstr>
      <vt:lpstr>フロントエンド バックエンド</vt:lpstr>
      <vt:lpstr>フロントエンド</vt:lpstr>
      <vt:lpstr>バックエンド</vt:lpstr>
      <vt:lpstr>フロントエンドとバックエンド</vt:lpstr>
      <vt:lpstr>フロントエンドとバックエンド</vt:lpstr>
      <vt:lpstr>開発手法</vt:lpstr>
      <vt:lpstr>API方式</vt:lpstr>
      <vt:lpstr>API方式</vt:lpstr>
      <vt:lpstr>PHPの復習 Session</vt:lpstr>
      <vt:lpstr>PHPの復習 Session</vt:lpstr>
      <vt:lpstr>なぜSessionを使うのか</vt:lpstr>
      <vt:lpstr>なぜSessionを使うのか</vt:lpstr>
      <vt:lpstr>なぜSessionを使うのか</vt:lpstr>
      <vt:lpstr>なぜSessionを使うのか</vt:lpstr>
      <vt:lpstr>PHPの復習 CSRFトークン</vt:lpstr>
      <vt:lpstr>CSRFトークンとは</vt:lpstr>
      <vt:lpstr>CSRFトークン使い方</vt:lpstr>
      <vt:lpstr>CSRFトークン使い方</vt:lpstr>
      <vt:lpstr>使用ライブラリの説明</vt:lpstr>
      <vt:lpstr>注意事項</vt:lpstr>
      <vt:lpstr>Session</vt:lpstr>
      <vt:lpstr>CSRFToken</vt:lpstr>
      <vt:lpstr>Phinx</vt:lpstr>
      <vt:lpstr>Eloquent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CTA24 乙成 隼士</dc:creator>
  <cp:lastModifiedBy>Project Sanae</cp:lastModifiedBy>
  <cp:revision>19</cp:revision>
  <dcterms:created xsi:type="dcterms:W3CDTF">2026-04-26T06:41:28Z</dcterms:created>
  <dcterms:modified xsi:type="dcterms:W3CDTF">2026-05-07T14:05:47Z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504514-6e13-49d7-8203-001e97ae7662_Enabled">
    <vt:lpwstr>true</vt:lpwstr>
  </property>
  <property fmtid="{D5CDD505-2E9C-101B-9397-08002B2CF9AE}" pid="3" name="MSIP_Label_9f504514-6e13-49d7-8203-001e97ae7662_SetDate">
    <vt:lpwstr>2026-04-26T07:09:26Z</vt:lpwstr>
  </property>
  <property fmtid="{D5CDD505-2E9C-101B-9397-08002B2CF9AE}" pid="4" name="MSIP_Label_9f504514-6e13-49d7-8203-001e97ae7662_Method">
    <vt:lpwstr>Standard</vt:lpwstr>
  </property>
  <property fmtid="{D5CDD505-2E9C-101B-9397-08002B2CF9AE}" pid="5" name="MSIP_Label_9f504514-6e13-49d7-8203-001e97ae7662_Name">
    <vt:lpwstr>defa4170-0d19-0005-0004-bc88714345d2</vt:lpwstr>
  </property>
  <property fmtid="{D5CDD505-2E9C-101B-9397-08002B2CF9AE}" pid="6" name="MSIP_Label_9f504514-6e13-49d7-8203-001e97ae7662_SiteId">
    <vt:lpwstr>1a0fe579-7f10-4395-ac1e-6c52a1509b88</vt:lpwstr>
  </property>
  <property fmtid="{D5CDD505-2E9C-101B-9397-08002B2CF9AE}" pid="7" name="MSIP_Label_9f504514-6e13-49d7-8203-001e97ae7662_ActionId">
    <vt:lpwstr>07447b89-8a82-4c5f-b274-9769b108bea1</vt:lpwstr>
  </property>
  <property fmtid="{D5CDD505-2E9C-101B-9397-08002B2CF9AE}" pid="8" name="MSIP_Label_9f504514-6e13-49d7-8203-001e97ae7662_ContentBits">
    <vt:lpwstr>0</vt:lpwstr>
  </property>
  <property fmtid="{D5CDD505-2E9C-101B-9397-08002B2CF9AE}" pid="9" name="MSIP_Label_9f504514-6e13-49d7-8203-001e97ae7662_Tag">
    <vt:lpwstr>10, 3, 0, 1</vt:lpwstr>
  </property>
</Properties>
</file>